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egoe UI Bold" charset="1" panose="020B0802040204020203"/>
      <p:regular r:id="rId17"/>
    </p:embeddedFont>
    <p:embeddedFont>
      <p:font typeface="Segoe UI" charset="1" panose="020B0502040204020203"/>
      <p:regular r:id="rId18"/>
    </p:embeddedFont>
    <p:embeddedFont>
      <p:font typeface="Consolas Bold" charset="1" panose="020B0709020204030204"/>
      <p:regular r:id="rId19"/>
    </p:embeddedFont>
    <p:embeddedFont>
      <p:font typeface="Consolas" charset="1" panose="020B0609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29000"/>
            <a:ext cx="512064" cy="13716000"/>
            <a:chOff x="0" y="0"/>
            <a:chExt cx="682752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2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8288000"/>
                  </a:lnTo>
                  <a:lnTo>
                    <a:pt x="0" y="182880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32500"/>
            <a:ext cx="14751538" cy="2999408"/>
            <a:chOff x="0" y="0"/>
            <a:chExt cx="19668718" cy="39992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668717" cy="3999210"/>
            </a:xfrm>
            <a:custGeom>
              <a:avLst/>
              <a:gdLst/>
              <a:ahLst/>
              <a:cxnLst/>
              <a:rect r="r" b="b" t="t" l="l"/>
              <a:pathLst>
                <a:path h="3999210" w="19668717">
                  <a:moveTo>
                    <a:pt x="0" y="0"/>
                  </a:moveTo>
                  <a:lnTo>
                    <a:pt x="19668717" y="0"/>
                  </a:lnTo>
                  <a:lnTo>
                    <a:pt x="19668717" y="3999210"/>
                  </a:lnTo>
                  <a:lnTo>
                    <a:pt x="0" y="39992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92" r="-11576" b="-465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668718" cy="39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0"/>
                </a:lnSpc>
              </a:pPr>
              <a:r>
                <a:rPr lang="en-US" sz="132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Clarity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7872" y="2688370"/>
            <a:ext cx="17210128" cy="996628"/>
            <a:chOff x="0" y="0"/>
            <a:chExt cx="22946838" cy="1328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46838" cy="1328837"/>
            </a:xfrm>
            <a:custGeom>
              <a:avLst/>
              <a:gdLst/>
              <a:ahLst/>
              <a:cxnLst/>
              <a:rect r="r" b="b" t="t" l="l"/>
              <a:pathLst>
                <a:path h="1328837" w="22946838">
                  <a:moveTo>
                    <a:pt x="0" y="0"/>
                  </a:moveTo>
                  <a:lnTo>
                    <a:pt x="22946838" y="0"/>
                  </a:lnTo>
                  <a:lnTo>
                    <a:pt x="22946838" y="1328837"/>
                  </a:lnTo>
                  <a:lnTo>
                    <a:pt x="0" y="13288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550" r="-11576" b="-3213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2946838" cy="1319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Smart Expense Analyzer &amp; Financial Health Dashboard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0653" y="3936492"/>
            <a:ext cx="1802966" cy="91440"/>
            <a:chOff x="0" y="0"/>
            <a:chExt cx="2403954" cy="121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3954" cy="121920"/>
            </a:xfrm>
            <a:custGeom>
              <a:avLst/>
              <a:gdLst/>
              <a:ahLst/>
              <a:cxnLst/>
              <a:rect r="r" b="b" t="t" l="l"/>
              <a:pathLst>
                <a:path h="121920" w="2403954">
                  <a:moveTo>
                    <a:pt x="0" y="0"/>
                  </a:moveTo>
                  <a:lnTo>
                    <a:pt x="2403954" y="0"/>
                  </a:lnTo>
                  <a:lnTo>
                    <a:pt x="2403954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7872" y="4411980"/>
            <a:ext cx="16390598" cy="731520"/>
            <a:chOff x="0" y="0"/>
            <a:chExt cx="21854131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54131" cy="975360"/>
            </a:xfrm>
            <a:custGeom>
              <a:avLst/>
              <a:gdLst/>
              <a:ahLst/>
              <a:cxnLst/>
              <a:rect r="r" b="b" t="t" l="l"/>
              <a:pathLst>
                <a:path h="975360" w="21854131">
                  <a:moveTo>
                    <a:pt x="0" y="0"/>
                  </a:moveTo>
                  <a:lnTo>
                    <a:pt x="21854131" y="0"/>
                  </a:lnTo>
                  <a:lnTo>
                    <a:pt x="2185413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-11576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1854131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“An honest, clear picture of your personal financial health.”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9838" y="6629400"/>
            <a:ext cx="14630400" cy="548640"/>
            <a:chOff x="0" y="0"/>
            <a:chExt cx="195072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9507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HackInMotion Hackathon  ·  Team HIM-1043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856" y="768096"/>
            <a:ext cx="22115678" cy="438912"/>
            <a:chOff x="0" y="0"/>
            <a:chExt cx="29487571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87571" cy="585216"/>
            </a:xfrm>
            <a:custGeom>
              <a:avLst/>
              <a:gdLst/>
              <a:ahLst/>
              <a:cxnLst/>
              <a:rect r="r" b="b" t="t" l="l"/>
              <a:pathLst>
                <a:path h="585216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1802" r="0" b="-9318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487571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3856" y="1207008"/>
            <a:ext cx="22115678" cy="1060704"/>
            <a:chOff x="0" y="0"/>
            <a:chExt cx="29487571" cy="14142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8757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263" r="0" b="-35626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487571" cy="1414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Two bad options, and a data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2377440"/>
            <a:ext cx="1645920" cy="82296"/>
            <a:chOff x="0" y="0"/>
            <a:chExt cx="2194560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" cy="109728"/>
            </a:xfrm>
            <a:custGeom>
              <a:avLst/>
              <a:gdLst/>
              <a:ahLst/>
              <a:cxnLst/>
              <a:rect r="r" b="b" t="t" l="l"/>
              <a:pathLst>
                <a:path h="10972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1159" y="3023111"/>
            <a:ext cx="5388279" cy="3376006"/>
            <a:chOff x="0" y="0"/>
            <a:chExt cx="7184372" cy="45013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84286" cy="4501276"/>
            </a:xfrm>
            <a:custGeom>
              <a:avLst/>
              <a:gdLst/>
              <a:ahLst/>
              <a:cxnLst/>
              <a:rect r="r" b="b" t="t" l="l"/>
              <a:pathLst>
                <a:path h="4501276" w="7184286">
                  <a:moveTo>
                    <a:pt x="0" y="107995"/>
                  </a:moveTo>
                  <a:cubicBezTo>
                    <a:pt x="0" y="48402"/>
                    <a:pt x="49818" y="0"/>
                    <a:pt x="111155" y="0"/>
                  </a:cubicBezTo>
                  <a:lnTo>
                    <a:pt x="7073130" y="0"/>
                  </a:lnTo>
                  <a:cubicBezTo>
                    <a:pt x="7134563" y="0"/>
                    <a:pt x="7184286" y="48402"/>
                    <a:pt x="7184286" y="107995"/>
                  </a:cubicBezTo>
                  <a:lnTo>
                    <a:pt x="7184286" y="4393281"/>
                  </a:lnTo>
                  <a:cubicBezTo>
                    <a:pt x="7184286" y="4452967"/>
                    <a:pt x="7134467" y="4501276"/>
                    <a:pt x="7073130" y="4501276"/>
                  </a:cubicBezTo>
                  <a:lnTo>
                    <a:pt x="111155" y="4501276"/>
                  </a:lnTo>
                  <a:cubicBezTo>
                    <a:pt x="49818" y="4501379"/>
                    <a:pt x="0" y="4452967"/>
                    <a:pt x="0" y="4393281"/>
                  </a:cubicBezTo>
                  <a:close/>
                </a:path>
              </a:pathLst>
            </a:custGeom>
            <a:solidFill>
              <a:srgbClr val="FFE4E6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62493" y="3328416"/>
            <a:ext cx="4760893" cy="731520"/>
            <a:chOff x="0" y="0"/>
            <a:chExt cx="6347858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47857" cy="975360"/>
            </a:xfrm>
            <a:custGeom>
              <a:avLst/>
              <a:gdLst/>
              <a:ahLst/>
              <a:cxnLst/>
              <a:rect r="r" b="b" t="t" l="l"/>
              <a:pathLst>
                <a:path h="975360" w="6347857">
                  <a:moveTo>
                    <a:pt x="0" y="0"/>
                  </a:moveTo>
                  <a:lnTo>
                    <a:pt x="6347857" y="0"/>
                  </a:lnTo>
                  <a:lnTo>
                    <a:pt x="6347857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2" r="-32307" b="-1177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347858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Spreadsheets with colours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31605" y="4085082"/>
            <a:ext cx="4595024" cy="166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Raw rows and a pie chart. You can see what you spent never whether it was reasonable, or what to do about it.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94330" y="3023111"/>
            <a:ext cx="5388279" cy="3376006"/>
            <a:chOff x="0" y="0"/>
            <a:chExt cx="7184372" cy="45013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84286" cy="4501276"/>
            </a:xfrm>
            <a:custGeom>
              <a:avLst/>
              <a:gdLst/>
              <a:ahLst/>
              <a:cxnLst/>
              <a:rect r="r" b="b" t="t" l="l"/>
              <a:pathLst>
                <a:path h="4501276" w="7184286">
                  <a:moveTo>
                    <a:pt x="0" y="107995"/>
                  </a:moveTo>
                  <a:cubicBezTo>
                    <a:pt x="0" y="48402"/>
                    <a:pt x="49818" y="0"/>
                    <a:pt x="111155" y="0"/>
                  </a:cubicBezTo>
                  <a:lnTo>
                    <a:pt x="7073130" y="0"/>
                  </a:lnTo>
                  <a:cubicBezTo>
                    <a:pt x="7134563" y="0"/>
                    <a:pt x="7184286" y="48402"/>
                    <a:pt x="7184286" y="107995"/>
                  </a:cubicBezTo>
                  <a:lnTo>
                    <a:pt x="7184286" y="4393281"/>
                  </a:lnTo>
                  <a:cubicBezTo>
                    <a:pt x="7184286" y="4452967"/>
                    <a:pt x="7134467" y="4501276"/>
                    <a:pt x="7073130" y="4501276"/>
                  </a:cubicBezTo>
                  <a:lnTo>
                    <a:pt x="111155" y="4501276"/>
                  </a:lnTo>
                  <a:cubicBezTo>
                    <a:pt x="49818" y="4501379"/>
                    <a:pt x="0" y="4452967"/>
                    <a:pt x="0" y="4393281"/>
                  </a:cubicBezTo>
                  <a:close/>
                </a:path>
              </a:pathLst>
            </a:custGeom>
            <a:solidFill>
              <a:srgbClr val="FFE4E6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135664" y="3328416"/>
            <a:ext cx="4760893" cy="731520"/>
            <a:chOff x="0" y="0"/>
            <a:chExt cx="6347858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47857" cy="975360"/>
            </a:xfrm>
            <a:custGeom>
              <a:avLst/>
              <a:gdLst/>
              <a:ahLst/>
              <a:cxnLst/>
              <a:rect r="r" b="b" t="t" l="l"/>
              <a:pathLst>
                <a:path h="975360" w="6347857">
                  <a:moveTo>
                    <a:pt x="0" y="0"/>
                  </a:moveTo>
                  <a:lnTo>
                    <a:pt x="6347857" y="0"/>
                  </a:lnTo>
                  <a:lnTo>
                    <a:pt x="6347857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2" r="-32307" b="-1177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6347858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Black-box AI scores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204776" y="4085082"/>
            <a:ext cx="4595024" cy="208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A number appears with no derivation. Nothing to audit, nothing to argue with and it is asking you to trust it with your money.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467502" y="3023111"/>
            <a:ext cx="5388279" cy="3376006"/>
            <a:chOff x="0" y="0"/>
            <a:chExt cx="7184372" cy="45013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84286" cy="4501276"/>
            </a:xfrm>
            <a:custGeom>
              <a:avLst/>
              <a:gdLst/>
              <a:ahLst/>
              <a:cxnLst/>
              <a:rect r="r" b="b" t="t" l="l"/>
              <a:pathLst>
                <a:path h="4501276" w="7184286">
                  <a:moveTo>
                    <a:pt x="0" y="107995"/>
                  </a:moveTo>
                  <a:cubicBezTo>
                    <a:pt x="0" y="48402"/>
                    <a:pt x="49818" y="0"/>
                    <a:pt x="111155" y="0"/>
                  </a:cubicBezTo>
                  <a:lnTo>
                    <a:pt x="7073130" y="0"/>
                  </a:lnTo>
                  <a:cubicBezTo>
                    <a:pt x="7134563" y="0"/>
                    <a:pt x="7184286" y="48402"/>
                    <a:pt x="7184286" y="107995"/>
                  </a:cubicBezTo>
                  <a:lnTo>
                    <a:pt x="7184286" y="4393281"/>
                  </a:lnTo>
                  <a:cubicBezTo>
                    <a:pt x="7184286" y="4452967"/>
                    <a:pt x="7134467" y="4501276"/>
                    <a:pt x="7073130" y="4501276"/>
                  </a:cubicBezTo>
                  <a:lnTo>
                    <a:pt x="111155" y="4501276"/>
                  </a:lnTo>
                  <a:cubicBezTo>
                    <a:pt x="49818" y="4501379"/>
                    <a:pt x="0" y="4452967"/>
                    <a:pt x="0" y="4393281"/>
                  </a:cubicBezTo>
                  <a:close/>
                </a:path>
              </a:pathLst>
            </a:custGeom>
            <a:solidFill>
              <a:srgbClr val="FFE4E6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808836" y="3328416"/>
            <a:ext cx="4760893" cy="731520"/>
            <a:chOff x="0" y="0"/>
            <a:chExt cx="6347858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47857" cy="975360"/>
            </a:xfrm>
            <a:custGeom>
              <a:avLst/>
              <a:gdLst/>
              <a:ahLst/>
              <a:cxnLst/>
              <a:rect r="r" b="b" t="t" l="l"/>
              <a:pathLst>
                <a:path h="975360" w="6347857">
                  <a:moveTo>
                    <a:pt x="0" y="0"/>
                  </a:moveTo>
                  <a:lnTo>
                    <a:pt x="6347857" y="0"/>
                  </a:lnTo>
                  <a:lnTo>
                    <a:pt x="6347857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2" r="-32307" b="-11778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347858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Unreadable statements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877948" y="4085082"/>
            <a:ext cx="4595024" cy="166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Real Indian bank and UPI narrations are machine noise. Nothing downstream works until someone cleans them up.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21159" y="6982463"/>
            <a:ext cx="16035091" cy="1133856"/>
            <a:chOff x="0" y="0"/>
            <a:chExt cx="21380121" cy="1511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8012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380121">
                  <a:moveTo>
                    <a:pt x="0" y="0"/>
                  </a:moveTo>
                  <a:lnTo>
                    <a:pt x="21380121" y="0"/>
                  </a:lnTo>
                  <a:lnTo>
                    <a:pt x="2138012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967" r="-32446" b="-31496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1380121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11182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UPI/DR/622450640912/MUKESH S/YESB/paytm.s22m/UPI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8920410"/>
            <a:ext cx="16827080" cy="914400"/>
            <a:chOff x="0" y="0"/>
            <a:chExt cx="22436107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436106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6106">
                  <a:moveTo>
                    <a:pt x="0" y="0"/>
                  </a:moveTo>
                  <a:lnTo>
                    <a:pt x="22436106" y="0"/>
                  </a:lnTo>
                  <a:lnTo>
                    <a:pt x="2243610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265" r="-31429" b="-4212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22436107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People don’t need more charts. </a:t>
              </a:r>
              <a:r>
                <a:rPr lang="en-US" sz="38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They need a diagnosis they can check.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803640" y="8116319"/>
            <a:ext cx="3330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3856" y="768096"/>
            <a:ext cx="22115678" cy="438912"/>
            <a:chOff x="0" y="0"/>
            <a:chExt cx="29487571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487571" cy="585216"/>
            </a:xfrm>
            <a:custGeom>
              <a:avLst/>
              <a:gdLst/>
              <a:ahLst/>
              <a:cxnLst/>
              <a:rect r="r" b="b" t="t" l="l"/>
              <a:pathLst>
                <a:path h="585216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1802" r="0" b="-9318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9487571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OUR APPROACH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3856" y="1207008"/>
            <a:ext cx="22115678" cy="1060704"/>
            <a:chOff x="0" y="0"/>
            <a:chExt cx="29487571" cy="14142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48757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263" r="0" b="-3562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9487571" cy="1414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Four principles the code actually enforces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3856" y="2377440"/>
            <a:ext cx="1645920" cy="82296"/>
            <a:chOff x="0" y="0"/>
            <a:chExt cx="2194560" cy="109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" cy="109728"/>
            </a:xfrm>
            <a:custGeom>
              <a:avLst/>
              <a:gdLst/>
              <a:ahLst/>
              <a:cxnLst/>
              <a:rect r="r" b="b" t="t" l="l"/>
              <a:pathLst>
                <a:path h="10972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33856" y="2574036"/>
            <a:ext cx="7333145" cy="3051259"/>
            <a:chOff x="0" y="0"/>
            <a:chExt cx="10161032" cy="42279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987" cy="4227830"/>
            </a:xfrm>
            <a:custGeom>
              <a:avLst/>
              <a:gdLst/>
              <a:ahLst/>
              <a:cxnLst/>
              <a:rect r="r" b="b" t="t" l="l"/>
              <a:pathLst>
                <a:path h="4227830" w="10160987">
                  <a:moveTo>
                    <a:pt x="0" y="147447"/>
                  </a:moveTo>
                  <a:cubicBezTo>
                    <a:pt x="0" y="66040"/>
                    <a:pt x="46326" y="0"/>
                    <a:pt x="103432" y="0"/>
                  </a:cubicBezTo>
                  <a:lnTo>
                    <a:pt x="10057555" y="0"/>
                  </a:lnTo>
                  <a:cubicBezTo>
                    <a:pt x="10114662" y="0"/>
                    <a:pt x="10160987" y="66040"/>
                    <a:pt x="10160987" y="147447"/>
                  </a:cubicBezTo>
                  <a:lnTo>
                    <a:pt x="10160987" y="4080383"/>
                  </a:lnTo>
                  <a:cubicBezTo>
                    <a:pt x="10160987" y="4161790"/>
                    <a:pt x="10114662" y="4227830"/>
                    <a:pt x="10057555" y="4227830"/>
                  </a:cubicBezTo>
                  <a:lnTo>
                    <a:pt x="103432" y="4227830"/>
                  </a:lnTo>
                  <a:cubicBezTo>
                    <a:pt x="46326" y="4227957"/>
                    <a:pt x="0" y="4161917"/>
                    <a:pt x="0" y="4080383"/>
                  </a:cubicBez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2426" y="2867818"/>
            <a:ext cx="67895" cy="2463686"/>
            <a:chOff x="0" y="0"/>
            <a:chExt cx="94077" cy="3413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77" cy="3413760"/>
            </a:xfrm>
            <a:custGeom>
              <a:avLst/>
              <a:gdLst/>
              <a:ahLst/>
              <a:cxnLst/>
              <a:rect r="r" b="b" t="t" l="l"/>
              <a:pathLst>
                <a:path h="3413760" w="94077">
                  <a:moveTo>
                    <a:pt x="0" y="0"/>
                  </a:moveTo>
                  <a:lnTo>
                    <a:pt x="94077" y="0"/>
                  </a:lnTo>
                  <a:lnTo>
                    <a:pt x="94077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38696" y="2867818"/>
            <a:ext cx="6772837" cy="703910"/>
            <a:chOff x="0" y="0"/>
            <a:chExt cx="9384653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84654" cy="975360"/>
            </a:xfrm>
            <a:custGeom>
              <a:avLst/>
              <a:gdLst/>
              <a:ahLst/>
              <a:cxnLst/>
              <a:rect r="r" b="b" t="t" l="l"/>
              <a:pathLst>
                <a:path h="975360" w="9384654">
                  <a:moveTo>
                    <a:pt x="0" y="0"/>
                  </a:moveTo>
                  <a:lnTo>
                    <a:pt x="9384654" y="0"/>
                  </a:lnTo>
                  <a:lnTo>
                    <a:pt x="938465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261" r="-42554" b="-21726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384653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01    Strict multi-tenant scoping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00418" y="3603293"/>
            <a:ext cx="6624703" cy="11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13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Every route resolves the session server-side before touching the database. No client-supplied userId reaches a Prisma query — anywhere.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46123" y="2574036"/>
            <a:ext cx="7333145" cy="3051259"/>
            <a:chOff x="0" y="0"/>
            <a:chExt cx="10161032" cy="42279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987" cy="4227830"/>
            </a:xfrm>
            <a:custGeom>
              <a:avLst/>
              <a:gdLst/>
              <a:ahLst/>
              <a:cxnLst/>
              <a:rect r="r" b="b" t="t" l="l"/>
              <a:pathLst>
                <a:path h="4227830" w="10160987">
                  <a:moveTo>
                    <a:pt x="0" y="147447"/>
                  </a:moveTo>
                  <a:cubicBezTo>
                    <a:pt x="0" y="66040"/>
                    <a:pt x="46326" y="0"/>
                    <a:pt x="103432" y="0"/>
                  </a:cubicBezTo>
                  <a:lnTo>
                    <a:pt x="10057555" y="0"/>
                  </a:lnTo>
                  <a:cubicBezTo>
                    <a:pt x="10114662" y="0"/>
                    <a:pt x="10160987" y="66040"/>
                    <a:pt x="10160987" y="147447"/>
                  </a:cubicBezTo>
                  <a:lnTo>
                    <a:pt x="10160987" y="4080383"/>
                  </a:lnTo>
                  <a:cubicBezTo>
                    <a:pt x="10160987" y="4161790"/>
                    <a:pt x="10114662" y="4227830"/>
                    <a:pt x="10057555" y="4227830"/>
                  </a:cubicBezTo>
                  <a:lnTo>
                    <a:pt x="103432" y="4227830"/>
                  </a:lnTo>
                  <a:cubicBezTo>
                    <a:pt x="46326" y="4227957"/>
                    <a:pt x="0" y="4161917"/>
                    <a:pt x="0" y="4080383"/>
                  </a:cubicBez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754693" y="2867818"/>
            <a:ext cx="67895" cy="2463686"/>
            <a:chOff x="0" y="0"/>
            <a:chExt cx="94077" cy="3413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077" cy="3413760"/>
            </a:xfrm>
            <a:custGeom>
              <a:avLst/>
              <a:gdLst/>
              <a:ahLst/>
              <a:cxnLst/>
              <a:rect r="r" b="b" t="t" l="l"/>
              <a:pathLst>
                <a:path h="3413760" w="94077">
                  <a:moveTo>
                    <a:pt x="0" y="0"/>
                  </a:moveTo>
                  <a:lnTo>
                    <a:pt x="94077" y="0"/>
                  </a:lnTo>
                  <a:lnTo>
                    <a:pt x="94077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50962" y="2867818"/>
            <a:ext cx="6772837" cy="703910"/>
            <a:chOff x="0" y="0"/>
            <a:chExt cx="9384653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84654" cy="975360"/>
            </a:xfrm>
            <a:custGeom>
              <a:avLst/>
              <a:gdLst/>
              <a:ahLst/>
              <a:cxnLst/>
              <a:rect r="r" b="b" t="t" l="l"/>
              <a:pathLst>
                <a:path h="975360" w="9384654">
                  <a:moveTo>
                    <a:pt x="0" y="0"/>
                  </a:moveTo>
                  <a:lnTo>
                    <a:pt x="9384654" y="0"/>
                  </a:lnTo>
                  <a:lnTo>
                    <a:pt x="938465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261" r="-42554" b="-21726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384653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02    Computed, never hardcoded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12685" y="3603293"/>
            <a:ext cx="6624703" cy="11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13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Scores, 50/30/20 ratios, runway and insight cards are all derived on demand from the user’s own transactions. No filler values.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33856" y="6023197"/>
            <a:ext cx="7333145" cy="3051259"/>
            <a:chOff x="0" y="0"/>
            <a:chExt cx="10161032" cy="42279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60987" cy="4227830"/>
            </a:xfrm>
            <a:custGeom>
              <a:avLst/>
              <a:gdLst/>
              <a:ahLst/>
              <a:cxnLst/>
              <a:rect r="r" b="b" t="t" l="l"/>
              <a:pathLst>
                <a:path h="4227830" w="10160987">
                  <a:moveTo>
                    <a:pt x="0" y="147447"/>
                  </a:moveTo>
                  <a:cubicBezTo>
                    <a:pt x="0" y="66040"/>
                    <a:pt x="46326" y="0"/>
                    <a:pt x="103432" y="0"/>
                  </a:cubicBezTo>
                  <a:lnTo>
                    <a:pt x="10057555" y="0"/>
                  </a:lnTo>
                  <a:cubicBezTo>
                    <a:pt x="10114662" y="0"/>
                    <a:pt x="10160987" y="66040"/>
                    <a:pt x="10160987" y="147447"/>
                  </a:cubicBezTo>
                  <a:lnTo>
                    <a:pt x="10160987" y="4080383"/>
                  </a:lnTo>
                  <a:cubicBezTo>
                    <a:pt x="10160987" y="4161790"/>
                    <a:pt x="10114662" y="4227830"/>
                    <a:pt x="10057555" y="4227830"/>
                  </a:cubicBezTo>
                  <a:lnTo>
                    <a:pt x="103432" y="4227830"/>
                  </a:lnTo>
                  <a:cubicBezTo>
                    <a:pt x="46326" y="4227957"/>
                    <a:pt x="0" y="4161917"/>
                    <a:pt x="0" y="4080383"/>
                  </a:cubicBez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42426" y="6316979"/>
            <a:ext cx="67895" cy="2463686"/>
            <a:chOff x="0" y="0"/>
            <a:chExt cx="94077" cy="3413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077" cy="3413760"/>
            </a:xfrm>
            <a:custGeom>
              <a:avLst/>
              <a:gdLst/>
              <a:ahLst/>
              <a:cxnLst/>
              <a:rect r="r" b="b" t="t" l="l"/>
              <a:pathLst>
                <a:path h="3413760" w="94077">
                  <a:moveTo>
                    <a:pt x="0" y="0"/>
                  </a:moveTo>
                  <a:lnTo>
                    <a:pt x="94077" y="0"/>
                  </a:lnTo>
                  <a:lnTo>
                    <a:pt x="94077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38696" y="6316979"/>
            <a:ext cx="6772837" cy="703910"/>
            <a:chOff x="0" y="0"/>
            <a:chExt cx="9384653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84654" cy="975360"/>
            </a:xfrm>
            <a:custGeom>
              <a:avLst/>
              <a:gdLst/>
              <a:ahLst/>
              <a:cxnLst/>
              <a:rect r="r" b="b" t="t" l="l"/>
              <a:pathLst>
                <a:path h="975360" w="9384654">
                  <a:moveTo>
                    <a:pt x="0" y="0"/>
                  </a:moveTo>
                  <a:lnTo>
                    <a:pt x="9384654" y="0"/>
                  </a:lnTo>
                  <a:lnTo>
                    <a:pt x="938465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261" r="-42554" b="-2172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384653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03    Deterministic first, AI second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500418" y="7052454"/>
            <a:ext cx="6624703" cy="11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13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Keyword rules run free and instantly, and store a reasoning trail. Claude handles only what rules can’t decode.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746123" y="6023197"/>
            <a:ext cx="7333145" cy="3051259"/>
            <a:chOff x="0" y="0"/>
            <a:chExt cx="10161032" cy="42279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60987" cy="4227830"/>
            </a:xfrm>
            <a:custGeom>
              <a:avLst/>
              <a:gdLst/>
              <a:ahLst/>
              <a:cxnLst/>
              <a:rect r="r" b="b" t="t" l="l"/>
              <a:pathLst>
                <a:path h="4227830" w="10160987">
                  <a:moveTo>
                    <a:pt x="0" y="147447"/>
                  </a:moveTo>
                  <a:cubicBezTo>
                    <a:pt x="0" y="66040"/>
                    <a:pt x="46326" y="0"/>
                    <a:pt x="103432" y="0"/>
                  </a:cubicBezTo>
                  <a:lnTo>
                    <a:pt x="10057555" y="0"/>
                  </a:lnTo>
                  <a:cubicBezTo>
                    <a:pt x="10114662" y="0"/>
                    <a:pt x="10160987" y="66040"/>
                    <a:pt x="10160987" y="147447"/>
                  </a:cubicBezTo>
                  <a:lnTo>
                    <a:pt x="10160987" y="4080383"/>
                  </a:lnTo>
                  <a:cubicBezTo>
                    <a:pt x="10160987" y="4161790"/>
                    <a:pt x="10114662" y="4227830"/>
                    <a:pt x="10057555" y="4227830"/>
                  </a:cubicBezTo>
                  <a:lnTo>
                    <a:pt x="103432" y="4227830"/>
                  </a:lnTo>
                  <a:cubicBezTo>
                    <a:pt x="46326" y="4227957"/>
                    <a:pt x="0" y="4161917"/>
                    <a:pt x="0" y="4080383"/>
                  </a:cubicBezTo>
                  <a:close/>
                </a:path>
              </a:pathLst>
            </a:custGeom>
            <a:solidFill>
              <a:srgbClr val="EDE9FE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754693" y="6316979"/>
            <a:ext cx="67895" cy="2463686"/>
            <a:chOff x="0" y="0"/>
            <a:chExt cx="94077" cy="3413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077" cy="3413760"/>
            </a:xfrm>
            <a:custGeom>
              <a:avLst/>
              <a:gdLst/>
              <a:ahLst/>
              <a:cxnLst/>
              <a:rect r="r" b="b" t="t" l="l"/>
              <a:pathLst>
                <a:path h="3413760" w="94077">
                  <a:moveTo>
                    <a:pt x="0" y="0"/>
                  </a:moveTo>
                  <a:lnTo>
                    <a:pt x="94077" y="0"/>
                  </a:lnTo>
                  <a:lnTo>
                    <a:pt x="94077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6D28D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050962" y="6316979"/>
            <a:ext cx="6772837" cy="703910"/>
            <a:chOff x="0" y="0"/>
            <a:chExt cx="9384653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84654" cy="975360"/>
            </a:xfrm>
            <a:custGeom>
              <a:avLst/>
              <a:gdLst/>
              <a:ahLst/>
              <a:cxnLst/>
              <a:rect r="r" b="b" t="t" l="l"/>
              <a:pathLst>
                <a:path h="975360" w="9384654">
                  <a:moveTo>
                    <a:pt x="0" y="0"/>
                  </a:moveTo>
                  <a:lnTo>
                    <a:pt x="9384654" y="0"/>
                  </a:lnTo>
                  <a:lnTo>
                    <a:pt x="938465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261" r="-42554" b="-21726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9384653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04    Resilient by default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112685" y="7052454"/>
            <a:ext cx="6624703" cy="11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13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Empty datasets, malformed rows, password-locked PDFs and a missing API key all have real handled paths — not crashes.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42426" y="9431782"/>
            <a:ext cx="14928264" cy="858236"/>
            <a:chOff x="0" y="0"/>
            <a:chExt cx="20685064" cy="11891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85065" cy="1189199"/>
            </a:xfrm>
            <a:custGeom>
              <a:avLst/>
              <a:gdLst/>
              <a:ahLst/>
              <a:cxnLst/>
              <a:rect r="r" b="b" t="t" l="l"/>
              <a:pathLst>
                <a:path h="1189199" w="20685065">
                  <a:moveTo>
                    <a:pt x="0" y="0"/>
                  </a:moveTo>
                  <a:lnTo>
                    <a:pt x="20685065" y="0"/>
                  </a:lnTo>
                  <a:lnTo>
                    <a:pt x="20685065" y="1189199"/>
                  </a:lnTo>
                  <a:lnTo>
                    <a:pt x="0" y="11891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397" r="-42554" b="-4139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0685064" cy="118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i="true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Each principle maps to a specific mechanism in the codebase</a:t>
              </a:r>
            </a:p>
            <a:p>
              <a:pPr algn="l">
                <a:lnSpc>
                  <a:spcPts val="276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3856" y="768096"/>
            <a:ext cx="22115678" cy="438912"/>
            <a:chOff x="0" y="0"/>
            <a:chExt cx="29487571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487571" cy="585216"/>
            </a:xfrm>
            <a:custGeom>
              <a:avLst/>
              <a:gdLst/>
              <a:ahLst/>
              <a:cxnLst/>
              <a:rect r="r" b="b" t="t" l="l"/>
              <a:pathLst>
                <a:path h="585216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1802" r="0" b="-9318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9487571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05521" y="114300"/>
            <a:ext cx="10223287" cy="10058400"/>
            <a:chOff x="0" y="0"/>
            <a:chExt cx="13631050" cy="13411200"/>
          </a:xfrm>
        </p:grpSpPr>
        <p:sp>
          <p:nvSpPr>
            <p:cNvPr name="Freeform 11" id="11" descr="C:\Users\HP\Downloads\HackInMotion-RICR-HIM-1043-main\assets\architecture-diagram.png"/>
            <p:cNvSpPr/>
            <p:nvPr/>
          </p:nvSpPr>
          <p:spPr>
            <a:xfrm flipH="false" flipV="false" rot="0">
              <a:off x="0" y="0"/>
              <a:ext cx="13631038" cy="13411200"/>
            </a:xfrm>
            <a:custGeom>
              <a:avLst/>
              <a:gdLst/>
              <a:ahLst/>
              <a:cxnLst/>
              <a:rect r="r" b="b" t="t" l="l"/>
              <a:pathLst>
                <a:path h="13411200" w="13631038">
                  <a:moveTo>
                    <a:pt x="0" y="0"/>
                  </a:moveTo>
                  <a:lnTo>
                    <a:pt x="13631038" y="0"/>
                  </a:lnTo>
                  <a:lnTo>
                    <a:pt x="13631038" y="13411200"/>
                  </a:lnTo>
                  <a:lnTo>
                    <a:pt x="0" y="134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33856" y="12216384"/>
            <a:ext cx="22115678" cy="512064"/>
            <a:chOff x="0" y="0"/>
            <a:chExt cx="29487571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487571" cy="682752"/>
            </a:xfrm>
            <a:custGeom>
              <a:avLst/>
              <a:gdLst/>
              <a:ahLst/>
              <a:cxnLst/>
              <a:rect r="r" b="b" t="t" l="l"/>
              <a:pathLst>
                <a:path h="682752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1544" r="0" b="-7915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9487571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Full-resolution source: assets/architecture-diagram.png  ·  editable: assets/architecture-diagram.excalidraw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3856" y="768096"/>
            <a:ext cx="22115678" cy="438912"/>
            <a:chOff x="0" y="0"/>
            <a:chExt cx="29487571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487571" cy="585216"/>
            </a:xfrm>
            <a:custGeom>
              <a:avLst/>
              <a:gdLst/>
              <a:ahLst/>
              <a:cxnLst/>
              <a:rect r="r" b="b" t="t" l="l"/>
              <a:pathLst>
                <a:path h="585216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1802" r="0" b="-9318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9487571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FINANCIAL HEALTH SCORE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3856" y="1207008"/>
            <a:ext cx="22115678" cy="1060704"/>
            <a:chOff x="0" y="0"/>
            <a:chExt cx="29487571" cy="14142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48757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263" r="0" b="-3562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9487571" cy="1414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 score you can take apart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3856" y="2377440"/>
            <a:ext cx="1645920" cy="82296"/>
            <a:chOff x="0" y="0"/>
            <a:chExt cx="2194560" cy="109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" cy="109728"/>
            </a:xfrm>
            <a:custGeom>
              <a:avLst/>
              <a:gdLst/>
              <a:ahLst/>
              <a:cxnLst/>
              <a:rect r="r" b="b" t="t" l="l"/>
              <a:pathLst>
                <a:path h="10972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33856" y="3035808"/>
          <a:ext cx="16805169" cy="4558030"/>
        </p:xfrm>
        <a:graphic>
          <a:graphicData uri="http://schemas.openxmlformats.org/drawingml/2006/table">
            <a:tbl>
              <a:tblPr/>
              <a:tblGrid>
                <a:gridCol w="4934404"/>
                <a:gridCol w="2040090"/>
                <a:gridCol w="2582774"/>
                <a:gridCol w="7247902"/>
              </a:tblGrid>
              <a:tr h="7870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Factor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Weight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Benchmark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Why it matters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7870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Savings rate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59669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35%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≥ 20%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The single strongest predictor of long-term resilience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0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Essentials (needs)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59669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30%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≤ 50%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Fixed overhead you cannot cut quickly in a bad month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4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Discretionary (wants)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59669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20%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≤ 30%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The flexible spend that is actually addressable this month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4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Net cash flow &amp; runway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59669"/>
                          </a:solidFill>
                          <a:latin typeface="Segoe UI Bold"/>
                          <a:ea typeface="Segoe UI Bold"/>
                          <a:cs typeface="Segoe UI Bold"/>
                          <a:sym typeface="Segoe UI Bold"/>
                        </a:rPr>
                        <a:t>15%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&gt; ₹0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374151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Whether the month closes positive, and for how many months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902360" y="7754938"/>
            <a:ext cx="3520961" cy="512064"/>
            <a:chOff x="0" y="0"/>
            <a:chExt cx="4694615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94615" cy="682752"/>
            </a:xfrm>
            <a:custGeom>
              <a:avLst/>
              <a:gdLst/>
              <a:ahLst/>
              <a:cxnLst/>
              <a:rect r="r" b="b" t="t" l="l"/>
              <a:pathLst>
                <a:path h="682752" w="4694615">
                  <a:moveTo>
                    <a:pt x="0" y="0"/>
                  </a:moveTo>
                  <a:lnTo>
                    <a:pt x="4694615" y="0"/>
                  </a:lnTo>
                  <a:lnTo>
                    <a:pt x="4694615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-3880" b="-891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694615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Tiers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2817" y="8428101"/>
            <a:ext cx="2903708" cy="1342139"/>
            <a:chOff x="0" y="0"/>
            <a:chExt cx="3871611" cy="17895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71636" cy="1789430"/>
            </a:xfrm>
            <a:custGeom>
              <a:avLst/>
              <a:gdLst/>
              <a:ahLst/>
              <a:cxnLst/>
              <a:rect r="r" b="b" t="t" l="l"/>
              <a:pathLst>
                <a:path h="1789430" w="3871636">
                  <a:moveTo>
                    <a:pt x="0" y="149098"/>
                  </a:moveTo>
                  <a:cubicBezTo>
                    <a:pt x="0" y="66802"/>
                    <a:pt x="50209" y="0"/>
                    <a:pt x="112063" y="0"/>
                  </a:cubicBezTo>
                  <a:lnTo>
                    <a:pt x="3759567" y="0"/>
                  </a:lnTo>
                  <a:cubicBezTo>
                    <a:pt x="3821421" y="0"/>
                    <a:pt x="3871636" y="66802"/>
                    <a:pt x="3871636" y="149098"/>
                  </a:cubicBezTo>
                  <a:lnTo>
                    <a:pt x="3871636" y="1640332"/>
                  </a:lnTo>
                  <a:cubicBezTo>
                    <a:pt x="3871636" y="1722628"/>
                    <a:pt x="3821421" y="1789430"/>
                    <a:pt x="3759567" y="1789430"/>
                  </a:cubicBezTo>
                  <a:lnTo>
                    <a:pt x="112063" y="1789430"/>
                  </a:lnTo>
                  <a:cubicBezTo>
                    <a:pt x="50209" y="1789557"/>
                    <a:pt x="0" y="1722755"/>
                    <a:pt x="0" y="1640332"/>
                  </a:cubicBezTo>
                  <a:close/>
                </a:path>
              </a:pathLst>
            </a:custGeom>
            <a:solidFill>
              <a:srgbClr val="FFE4E6"/>
            </a:solidFill>
            <a:ln w="25400" cap="sq">
              <a:solidFill>
                <a:srgbClr val="BE123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02360" y="8550526"/>
            <a:ext cx="2884615" cy="548640"/>
            <a:chOff x="0" y="0"/>
            <a:chExt cx="3846153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BE123C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CRITICAL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2360" y="9099166"/>
            <a:ext cx="2884615" cy="548640"/>
            <a:chOff x="0" y="0"/>
            <a:chExt cx="3846153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&lt; 40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327250" y="8428101"/>
            <a:ext cx="2903708" cy="1342139"/>
            <a:chOff x="0" y="0"/>
            <a:chExt cx="3871611" cy="17895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71636" cy="1789430"/>
            </a:xfrm>
            <a:custGeom>
              <a:avLst/>
              <a:gdLst/>
              <a:ahLst/>
              <a:cxnLst/>
              <a:rect r="r" b="b" t="t" l="l"/>
              <a:pathLst>
                <a:path h="1789430" w="3871636">
                  <a:moveTo>
                    <a:pt x="0" y="149098"/>
                  </a:moveTo>
                  <a:cubicBezTo>
                    <a:pt x="0" y="66802"/>
                    <a:pt x="50209" y="0"/>
                    <a:pt x="112063" y="0"/>
                  </a:cubicBezTo>
                  <a:lnTo>
                    <a:pt x="3759567" y="0"/>
                  </a:lnTo>
                  <a:cubicBezTo>
                    <a:pt x="3821421" y="0"/>
                    <a:pt x="3871636" y="66802"/>
                    <a:pt x="3871636" y="149098"/>
                  </a:cubicBezTo>
                  <a:lnTo>
                    <a:pt x="3871636" y="1640332"/>
                  </a:lnTo>
                  <a:cubicBezTo>
                    <a:pt x="3871636" y="1722628"/>
                    <a:pt x="3821421" y="1789430"/>
                    <a:pt x="3759567" y="1789430"/>
                  </a:cubicBezTo>
                  <a:lnTo>
                    <a:pt x="112063" y="1789430"/>
                  </a:lnTo>
                  <a:cubicBezTo>
                    <a:pt x="50209" y="1789557"/>
                    <a:pt x="0" y="1722755"/>
                    <a:pt x="0" y="1640332"/>
                  </a:cubicBez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336793" y="8550526"/>
            <a:ext cx="2884615" cy="548640"/>
            <a:chOff x="0" y="0"/>
            <a:chExt cx="3846153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B4530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BUILDING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36793" y="9099166"/>
            <a:ext cx="2884615" cy="548640"/>
            <a:chOff x="0" y="0"/>
            <a:chExt cx="3846153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40–54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761682" y="8428101"/>
            <a:ext cx="2903708" cy="1342139"/>
            <a:chOff x="0" y="0"/>
            <a:chExt cx="3871611" cy="17895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71636" cy="1789430"/>
            </a:xfrm>
            <a:custGeom>
              <a:avLst/>
              <a:gdLst/>
              <a:ahLst/>
              <a:cxnLst/>
              <a:rect r="r" b="b" t="t" l="l"/>
              <a:pathLst>
                <a:path h="1789430" w="3871636">
                  <a:moveTo>
                    <a:pt x="0" y="149098"/>
                  </a:moveTo>
                  <a:cubicBezTo>
                    <a:pt x="0" y="66802"/>
                    <a:pt x="50209" y="0"/>
                    <a:pt x="112063" y="0"/>
                  </a:cubicBezTo>
                  <a:lnTo>
                    <a:pt x="3759567" y="0"/>
                  </a:lnTo>
                  <a:cubicBezTo>
                    <a:pt x="3821421" y="0"/>
                    <a:pt x="3871636" y="66802"/>
                    <a:pt x="3871636" y="149098"/>
                  </a:cubicBezTo>
                  <a:lnTo>
                    <a:pt x="3871636" y="1640332"/>
                  </a:lnTo>
                  <a:cubicBezTo>
                    <a:pt x="3871636" y="1722628"/>
                    <a:pt x="3821421" y="1789430"/>
                    <a:pt x="3759567" y="1789430"/>
                  </a:cubicBezTo>
                  <a:lnTo>
                    <a:pt x="112063" y="1789430"/>
                  </a:lnTo>
                  <a:cubicBezTo>
                    <a:pt x="50209" y="1789557"/>
                    <a:pt x="0" y="1722755"/>
                    <a:pt x="0" y="1640332"/>
                  </a:cubicBezTo>
                  <a:close/>
                </a:path>
              </a:pathLst>
            </a:custGeom>
            <a:solidFill>
              <a:srgbClr val="CFFAFE"/>
            </a:solidFill>
            <a:ln w="25400" cap="sq">
              <a:solidFill>
                <a:srgbClr val="0E749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771225" y="8550526"/>
            <a:ext cx="2884615" cy="548640"/>
            <a:chOff x="0" y="0"/>
            <a:chExt cx="3846153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E749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STABLE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71225" y="9099166"/>
            <a:ext cx="2884615" cy="548640"/>
            <a:chOff x="0" y="0"/>
            <a:chExt cx="3846153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55–69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96114" y="8428101"/>
            <a:ext cx="2903708" cy="1342139"/>
            <a:chOff x="0" y="0"/>
            <a:chExt cx="3871611" cy="17895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71636" cy="1789430"/>
            </a:xfrm>
            <a:custGeom>
              <a:avLst/>
              <a:gdLst/>
              <a:ahLst/>
              <a:cxnLst/>
              <a:rect r="r" b="b" t="t" l="l"/>
              <a:pathLst>
                <a:path h="1789430" w="3871636">
                  <a:moveTo>
                    <a:pt x="0" y="149098"/>
                  </a:moveTo>
                  <a:cubicBezTo>
                    <a:pt x="0" y="66802"/>
                    <a:pt x="50209" y="0"/>
                    <a:pt x="112063" y="0"/>
                  </a:cubicBezTo>
                  <a:lnTo>
                    <a:pt x="3759567" y="0"/>
                  </a:lnTo>
                  <a:cubicBezTo>
                    <a:pt x="3821421" y="0"/>
                    <a:pt x="3871636" y="66802"/>
                    <a:pt x="3871636" y="149098"/>
                  </a:cubicBezTo>
                  <a:lnTo>
                    <a:pt x="3871636" y="1640332"/>
                  </a:lnTo>
                  <a:cubicBezTo>
                    <a:pt x="3871636" y="1722628"/>
                    <a:pt x="3821421" y="1789430"/>
                    <a:pt x="3759567" y="1789430"/>
                  </a:cubicBezTo>
                  <a:lnTo>
                    <a:pt x="112063" y="1789430"/>
                  </a:lnTo>
                  <a:cubicBezTo>
                    <a:pt x="50209" y="1789557"/>
                    <a:pt x="0" y="1722755"/>
                    <a:pt x="0" y="1640332"/>
                  </a:cubicBez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205665" y="8550526"/>
            <a:ext cx="2884615" cy="548640"/>
            <a:chOff x="0" y="0"/>
            <a:chExt cx="3846153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563E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STRONG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05665" y="9099166"/>
            <a:ext cx="2884615" cy="548640"/>
            <a:chOff x="0" y="0"/>
            <a:chExt cx="3846153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70–84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30547" y="8428101"/>
            <a:ext cx="2903708" cy="1342139"/>
            <a:chOff x="0" y="0"/>
            <a:chExt cx="3871611" cy="17895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71636" cy="1789430"/>
            </a:xfrm>
            <a:custGeom>
              <a:avLst/>
              <a:gdLst/>
              <a:ahLst/>
              <a:cxnLst/>
              <a:rect r="r" b="b" t="t" l="l"/>
              <a:pathLst>
                <a:path h="1789430" w="3871636">
                  <a:moveTo>
                    <a:pt x="0" y="149098"/>
                  </a:moveTo>
                  <a:cubicBezTo>
                    <a:pt x="0" y="66802"/>
                    <a:pt x="50209" y="0"/>
                    <a:pt x="112063" y="0"/>
                  </a:cubicBezTo>
                  <a:lnTo>
                    <a:pt x="3759567" y="0"/>
                  </a:lnTo>
                  <a:cubicBezTo>
                    <a:pt x="3821421" y="0"/>
                    <a:pt x="3871636" y="66802"/>
                    <a:pt x="3871636" y="149098"/>
                  </a:cubicBezTo>
                  <a:lnTo>
                    <a:pt x="3871636" y="1640332"/>
                  </a:lnTo>
                  <a:cubicBezTo>
                    <a:pt x="3871636" y="1722628"/>
                    <a:pt x="3821421" y="1789430"/>
                    <a:pt x="3759567" y="1789430"/>
                  </a:cubicBezTo>
                  <a:lnTo>
                    <a:pt x="112063" y="1789430"/>
                  </a:lnTo>
                  <a:cubicBezTo>
                    <a:pt x="50209" y="1789557"/>
                    <a:pt x="0" y="1722755"/>
                    <a:pt x="0" y="1640332"/>
                  </a:cubicBez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640097" y="8550526"/>
            <a:ext cx="2884615" cy="548640"/>
            <a:chOff x="0" y="0"/>
            <a:chExt cx="3846153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PRISTINE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40097" y="9099166"/>
            <a:ext cx="2884615" cy="548640"/>
            <a:chOff x="0" y="0"/>
            <a:chExt cx="3846153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46157" cy="731520"/>
            </a:xfrm>
            <a:custGeom>
              <a:avLst/>
              <a:gdLst/>
              <a:ahLst/>
              <a:cxnLst/>
              <a:rect r="r" b="b" t="t" l="l"/>
              <a:pathLst>
                <a:path h="731520" w="3846157">
                  <a:moveTo>
                    <a:pt x="0" y="0"/>
                  </a:moveTo>
                  <a:lnTo>
                    <a:pt x="3846157" y="0"/>
                  </a:lnTo>
                  <a:lnTo>
                    <a:pt x="384615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04" r="-33047" b="-8630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846153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85+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12629" y="10082279"/>
            <a:ext cx="21313946" cy="1598171"/>
            <a:chOff x="0" y="0"/>
            <a:chExt cx="28418594" cy="21308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418684" cy="2130933"/>
            </a:xfrm>
            <a:custGeom>
              <a:avLst/>
              <a:gdLst/>
              <a:ahLst/>
              <a:cxnLst/>
              <a:rect r="r" b="b" t="t" l="l"/>
              <a:pathLst>
                <a:path h="2130933" w="28418684">
                  <a:moveTo>
                    <a:pt x="0" y="148717"/>
                  </a:moveTo>
                  <a:cubicBezTo>
                    <a:pt x="0" y="66548"/>
                    <a:pt x="64062" y="0"/>
                    <a:pt x="143161" y="0"/>
                  </a:cubicBezTo>
                  <a:lnTo>
                    <a:pt x="28275521" y="0"/>
                  </a:lnTo>
                  <a:cubicBezTo>
                    <a:pt x="28354620" y="0"/>
                    <a:pt x="28418684" y="66548"/>
                    <a:pt x="28418684" y="148717"/>
                  </a:cubicBezTo>
                  <a:lnTo>
                    <a:pt x="28418684" y="1982216"/>
                  </a:lnTo>
                  <a:cubicBezTo>
                    <a:pt x="28418684" y="2064385"/>
                    <a:pt x="28354620" y="2130933"/>
                    <a:pt x="28275521" y="2130933"/>
                  </a:cubicBezTo>
                  <a:lnTo>
                    <a:pt x="143161" y="2130933"/>
                  </a:lnTo>
                  <a:cubicBezTo>
                    <a:pt x="64062" y="2130933"/>
                    <a:pt x="0" y="2064385"/>
                    <a:pt x="0" y="1982216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7469" y="751669"/>
            <a:ext cx="17145410" cy="471767"/>
            <a:chOff x="0" y="0"/>
            <a:chExt cx="22860547" cy="6290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0547" cy="629022"/>
            </a:xfrm>
            <a:custGeom>
              <a:avLst/>
              <a:gdLst/>
              <a:ahLst/>
              <a:cxnLst/>
              <a:rect r="r" b="b" t="t" l="l"/>
              <a:pathLst>
                <a:path h="629022" w="22860547">
                  <a:moveTo>
                    <a:pt x="0" y="0"/>
                  </a:moveTo>
                  <a:lnTo>
                    <a:pt x="22860547" y="0"/>
                  </a:lnTo>
                  <a:lnTo>
                    <a:pt x="22860547" y="629022"/>
                  </a:lnTo>
                  <a:lnTo>
                    <a:pt x="0" y="6290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910" r="-28988" b="-8599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860547" cy="629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CATEGORIZATION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7469" y="1035698"/>
            <a:ext cx="17145410" cy="1311138"/>
            <a:chOff x="0" y="0"/>
            <a:chExt cx="22860547" cy="17481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547" cy="1748185"/>
            </a:xfrm>
            <a:custGeom>
              <a:avLst/>
              <a:gdLst/>
              <a:ahLst/>
              <a:cxnLst/>
              <a:rect r="r" b="b" t="t" l="l"/>
              <a:pathLst>
                <a:path h="1748185" w="22860547">
                  <a:moveTo>
                    <a:pt x="0" y="0"/>
                  </a:moveTo>
                  <a:lnTo>
                    <a:pt x="22860547" y="0"/>
                  </a:lnTo>
                  <a:lnTo>
                    <a:pt x="22860547" y="1748185"/>
                  </a:lnTo>
                  <a:lnTo>
                    <a:pt x="0" y="17481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214" r="-28988" b="-26911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860547" cy="174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Deterministic first, AI only where its required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0444" y="3023111"/>
            <a:ext cx="8010038" cy="5443449"/>
            <a:chOff x="0" y="0"/>
            <a:chExt cx="11172973" cy="7592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73037" cy="7592949"/>
            </a:xfrm>
            <a:custGeom>
              <a:avLst/>
              <a:gdLst/>
              <a:ahLst/>
              <a:cxnLst/>
              <a:rect r="r" b="b" t="t" l="l"/>
              <a:pathLst>
                <a:path h="7592949" w="11173037">
                  <a:moveTo>
                    <a:pt x="0" y="146939"/>
                  </a:moveTo>
                  <a:cubicBezTo>
                    <a:pt x="0" y="65786"/>
                    <a:pt x="51001" y="0"/>
                    <a:pt x="113916" y="0"/>
                  </a:cubicBezTo>
                  <a:lnTo>
                    <a:pt x="11059106" y="0"/>
                  </a:lnTo>
                  <a:cubicBezTo>
                    <a:pt x="11122021" y="0"/>
                    <a:pt x="11173037" y="65786"/>
                    <a:pt x="11173037" y="146939"/>
                  </a:cubicBezTo>
                  <a:lnTo>
                    <a:pt x="11173037" y="7446010"/>
                  </a:lnTo>
                  <a:cubicBezTo>
                    <a:pt x="11173037" y="7527163"/>
                    <a:pt x="11122021" y="7592949"/>
                    <a:pt x="11059106" y="7592949"/>
                  </a:cubicBezTo>
                  <a:lnTo>
                    <a:pt x="113916" y="7592949"/>
                  </a:lnTo>
                  <a:cubicBezTo>
                    <a:pt x="51001" y="7592949"/>
                    <a:pt x="0" y="7527163"/>
                    <a:pt x="0" y="7446010"/>
                  </a:cubicBez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29853" y="3314947"/>
            <a:ext cx="74539" cy="4859768"/>
            <a:chOff x="0" y="0"/>
            <a:chExt cx="103972" cy="6778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972" cy="6778752"/>
            </a:xfrm>
            <a:custGeom>
              <a:avLst/>
              <a:gdLst/>
              <a:ahLst/>
              <a:cxnLst/>
              <a:rect r="r" b="b" t="t" l="l"/>
              <a:pathLst>
                <a:path h="6778752" w="103972">
                  <a:moveTo>
                    <a:pt x="0" y="0"/>
                  </a:moveTo>
                  <a:lnTo>
                    <a:pt x="103972" y="0"/>
                  </a:lnTo>
                  <a:lnTo>
                    <a:pt x="103972" y="6778752"/>
                  </a:lnTo>
                  <a:lnTo>
                    <a:pt x="0" y="6778752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55113" y="3314947"/>
            <a:ext cx="7394904" cy="699247"/>
            <a:chOff x="0" y="0"/>
            <a:chExt cx="1031494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14941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4941">
                  <a:moveTo>
                    <a:pt x="0" y="0"/>
                  </a:moveTo>
                  <a:lnTo>
                    <a:pt x="10314941" y="0"/>
                  </a:lnTo>
                  <a:lnTo>
                    <a:pt x="1031494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88" b="-215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31494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Rule engine  ·  lib/categorization/rules.ts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22875" y="4045234"/>
            <a:ext cx="7232275" cy="358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Keyword matching plus merchant-name normalization across 8 life-stage categories.</a:t>
            </a:r>
          </a:p>
          <a:p>
            <a:pPr algn="l">
              <a:lnSpc>
                <a:spcPts val="3165"/>
              </a:lnSpc>
            </a:pP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Runs in-process — no network, no cost, no latency</a:t>
            </a: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Every transaction stores a reasoning string, so any label can be audited</a:t>
            </a: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Users add their own categories and keyword rules</a:t>
            </a: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A live sandbox on /dashboard/categories lets you paste a raw narration and watch the rules fire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18231" y="3023111"/>
            <a:ext cx="8010038" cy="5443449"/>
            <a:chOff x="0" y="0"/>
            <a:chExt cx="11172973" cy="75929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73037" cy="7592949"/>
            </a:xfrm>
            <a:custGeom>
              <a:avLst/>
              <a:gdLst/>
              <a:ahLst/>
              <a:cxnLst/>
              <a:rect r="r" b="b" t="t" l="l"/>
              <a:pathLst>
                <a:path h="7592949" w="11173037">
                  <a:moveTo>
                    <a:pt x="0" y="146939"/>
                  </a:moveTo>
                  <a:cubicBezTo>
                    <a:pt x="0" y="65786"/>
                    <a:pt x="51001" y="0"/>
                    <a:pt x="113916" y="0"/>
                  </a:cubicBezTo>
                  <a:lnTo>
                    <a:pt x="11059106" y="0"/>
                  </a:lnTo>
                  <a:cubicBezTo>
                    <a:pt x="11122021" y="0"/>
                    <a:pt x="11173037" y="65786"/>
                    <a:pt x="11173037" y="146939"/>
                  </a:cubicBezTo>
                  <a:lnTo>
                    <a:pt x="11173037" y="7446010"/>
                  </a:lnTo>
                  <a:cubicBezTo>
                    <a:pt x="11173037" y="7527163"/>
                    <a:pt x="11122021" y="7592949"/>
                    <a:pt x="11059106" y="7592949"/>
                  </a:cubicBezTo>
                  <a:lnTo>
                    <a:pt x="113916" y="7592949"/>
                  </a:lnTo>
                  <a:cubicBezTo>
                    <a:pt x="51001" y="7592949"/>
                    <a:pt x="0" y="7527163"/>
                    <a:pt x="0" y="7446010"/>
                  </a:cubicBez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27640" y="3314947"/>
            <a:ext cx="74539" cy="4859768"/>
            <a:chOff x="0" y="0"/>
            <a:chExt cx="103972" cy="6778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972" cy="6778752"/>
            </a:xfrm>
            <a:custGeom>
              <a:avLst/>
              <a:gdLst/>
              <a:ahLst/>
              <a:cxnLst/>
              <a:rect r="r" b="b" t="t" l="l"/>
              <a:pathLst>
                <a:path h="6778752" w="103972">
                  <a:moveTo>
                    <a:pt x="0" y="0"/>
                  </a:moveTo>
                  <a:lnTo>
                    <a:pt x="103972" y="0"/>
                  </a:lnTo>
                  <a:lnTo>
                    <a:pt x="103972" y="6778752"/>
                  </a:lnTo>
                  <a:lnTo>
                    <a:pt x="0" y="6778752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52899" y="3314947"/>
            <a:ext cx="7394904" cy="699247"/>
            <a:chOff x="0" y="0"/>
            <a:chExt cx="1031494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14941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4941">
                  <a:moveTo>
                    <a:pt x="0" y="0"/>
                  </a:moveTo>
                  <a:lnTo>
                    <a:pt x="10314941" y="0"/>
                  </a:lnTo>
                  <a:lnTo>
                    <a:pt x="1031494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88" b="-2158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31494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Claude layer  ·  llmClassifier.ts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920662" y="4045234"/>
            <a:ext cx="7232275" cy="358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For narrations no keyword list will ever decode — local vendors, UPI handles, one-off counterparties.</a:t>
            </a:r>
          </a:p>
          <a:p>
            <a:pPr algn="l">
              <a:lnSpc>
                <a:spcPts val="3165"/>
              </a:lnSpc>
            </a:pP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Returns category, semanticFlag, isEssential, confidence and reasoning</a:t>
            </a: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Semantic flags rules can’t infer: Self Transfer, Family Transfer, Reversal, Cash Withdrawal, Bank Fee</a:t>
            </a:r>
          </a:p>
          <a:p>
            <a:pPr algn="l">
              <a:lnSpc>
                <a:spcPts val="3165"/>
              </a:lnSpc>
            </a:pPr>
            <a:r>
              <a:rPr lang="en-US" sz="2198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•  Distinguishing a self-transfer from real spend is what keeps the score honest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7978" y="9091546"/>
            <a:ext cx="16774915" cy="919711"/>
            <a:chOff x="0" y="0"/>
            <a:chExt cx="22366553" cy="12262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366565" cy="1226371"/>
            </a:xfrm>
            <a:custGeom>
              <a:avLst/>
              <a:gdLst/>
              <a:ahLst/>
              <a:cxnLst/>
              <a:rect r="r" b="b" t="t" l="l"/>
              <a:pathLst>
                <a:path h="1226371" w="22366565">
                  <a:moveTo>
                    <a:pt x="0" y="79993"/>
                  </a:moveTo>
                  <a:cubicBezTo>
                    <a:pt x="0" y="35840"/>
                    <a:pt x="50597" y="0"/>
                    <a:pt x="112930" y="0"/>
                  </a:cubicBezTo>
                  <a:lnTo>
                    <a:pt x="22253632" y="0"/>
                  </a:lnTo>
                  <a:cubicBezTo>
                    <a:pt x="22315965" y="0"/>
                    <a:pt x="22366565" y="35840"/>
                    <a:pt x="22366565" y="79993"/>
                  </a:cubicBezTo>
                  <a:lnTo>
                    <a:pt x="22366565" y="1146337"/>
                  </a:lnTo>
                  <a:cubicBezTo>
                    <a:pt x="22366565" y="1190489"/>
                    <a:pt x="22315965" y="1226371"/>
                    <a:pt x="22253632" y="1226371"/>
                  </a:cubicBezTo>
                  <a:lnTo>
                    <a:pt x="112930" y="1226371"/>
                  </a:lnTo>
                  <a:cubicBezTo>
                    <a:pt x="50597" y="1226261"/>
                    <a:pt x="0" y="1190489"/>
                    <a:pt x="0" y="1146337"/>
                  </a:cubicBezTo>
                  <a:close/>
                </a:path>
              </a:pathLst>
            </a:custGeom>
            <a:solidFill>
              <a:srgbClr val="F8FAFC"/>
            </a:solidFill>
            <a:ln w="317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96096" y="9107424"/>
            <a:ext cx="16408156" cy="903833"/>
            <a:chOff x="0" y="0"/>
            <a:chExt cx="21877541" cy="120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77541" cy="1205111"/>
            </a:xfrm>
            <a:custGeom>
              <a:avLst/>
              <a:gdLst/>
              <a:ahLst/>
              <a:cxnLst/>
              <a:rect r="r" b="b" t="t" l="l"/>
              <a:pathLst>
                <a:path h="1205111" w="21877541">
                  <a:moveTo>
                    <a:pt x="0" y="0"/>
                  </a:moveTo>
                  <a:lnTo>
                    <a:pt x="21877541" y="0"/>
                  </a:lnTo>
                  <a:lnTo>
                    <a:pt x="21877541" y="1205111"/>
                  </a:lnTo>
                  <a:lnTo>
                    <a:pt x="0" y="1205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197" r="-28988" b="-4493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1877541" cy="120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Graceful degradation:  </a:t>
              </a:r>
              <a:r>
                <a:rPr lang="en-US" sz="24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with no ANTHROPIC_API_KEY set, the classifier flags items “Needs Review” and falls back to the rule engine. The app never hard-fails on a missing key.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4453" y="755191"/>
            <a:ext cx="17147145" cy="471767"/>
            <a:chOff x="0" y="0"/>
            <a:chExt cx="22862860" cy="629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2859" cy="629022"/>
            </a:xfrm>
            <a:custGeom>
              <a:avLst/>
              <a:gdLst/>
              <a:ahLst/>
              <a:cxnLst/>
              <a:rect r="r" b="b" t="t" l="l"/>
              <a:pathLst>
                <a:path h="629022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629022"/>
                  </a:lnTo>
                  <a:lnTo>
                    <a:pt x="0" y="6290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910" r="-28975" b="-8599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862860" cy="629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THE OPTIMISATION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4453" y="1085313"/>
            <a:ext cx="17147145" cy="1311138"/>
            <a:chOff x="0" y="0"/>
            <a:chExt cx="22862860" cy="1748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2859" cy="1748185"/>
            </a:xfrm>
            <a:custGeom>
              <a:avLst/>
              <a:gdLst/>
              <a:ahLst/>
              <a:cxnLst/>
              <a:rect r="r" b="b" t="t" l="l"/>
              <a:pathLst>
                <a:path h="1748185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1748185"/>
                  </a:lnTo>
                  <a:lnTo>
                    <a:pt x="0" y="17481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214" r="-28975" b="-2691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862860" cy="174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Classify the merchant, not the transaction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4453" y="2380962"/>
            <a:ext cx="1276146" cy="82296"/>
            <a:chOff x="0" y="0"/>
            <a:chExt cx="1701528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1528" cy="109728"/>
            </a:xfrm>
            <a:custGeom>
              <a:avLst/>
              <a:gdLst/>
              <a:ahLst/>
              <a:cxnLst/>
              <a:rect r="r" b="b" t="t" l="l"/>
              <a:pathLst>
                <a:path h="109728" w="1701528">
                  <a:moveTo>
                    <a:pt x="0" y="0"/>
                  </a:moveTo>
                  <a:lnTo>
                    <a:pt x="1701528" y="0"/>
                  </a:lnTo>
                  <a:lnTo>
                    <a:pt x="1701528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4447" y="2844258"/>
            <a:ext cx="17147145" cy="629022"/>
            <a:chOff x="0" y="0"/>
            <a:chExt cx="22862860" cy="838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2859" cy="838696"/>
            </a:xfrm>
            <a:custGeom>
              <a:avLst/>
              <a:gdLst/>
              <a:ahLst/>
              <a:cxnLst/>
              <a:rect r="r" b="b" t="t" l="l"/>
              <a:pathLst>
                <a:path h="838696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838696"/>
                  </a:lnTo>
                  <a:lnTo>
                    <a:pt x="0" y="8386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646" r="-28975" b="-63449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2862860" cy="829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Forty Swiggy orders are one decision, not forty. So we group first, then classify.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8173" y="3854280"/>
            <a:ext cx="3715738" cy="2958009"/>
            <a:chOff x="0" y="0"/>
            <a:chExt cx="5004648" cy="39840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4638" cy="3984117"/>
            </a:xfrm>
            <a:custGeom>
              <a:avLst/>
              <a:gdLst/>
              <a:ahLst/>
              <a:cxnLst/>
              <a:rect r="r" b="b" t="t" l="l"/>
              <a:pathLst>
                <a:path h="3984117" w="5004638">
                  <a:moveTo>
                    <a:pt x="0" y="147574"/>
                  </a:moveTo>
                  <a:cubicBezTo>
                    <a:pt x="0" y="66040"/>
                    <a:pt x="51203" y="0"/>
                    <a:pt x="114420" y="0"/>
                  </a:cubicBezTo>
                  <a:lnTo>
                    <a:pt x="4890218" y="0"/>
                  </a:lnTo>
                  <a:cubicBezTo>
                    <a:pt x="4953434" y="0"/>
                    <a:pt x="5004638" y="66040"/>
                    <a:pt x="5004638" y="147574"/>
                  </a:cubicBezTo>
                  <a:lnTo>
                    <a:pt x="5004638" y="3836543"/>
                  </a:lnTo>
                  <a:cubicBezTo>
                    <a:pt x="5004638" y="3918077"/>
                    <a:pt x="4953434" y="3984117"/>
                    <a:pt x="4890218" y="3984117"/>
                  </a:cubicBezTo>
                  <a:lnTo>
                    <a:pt x="114420" y="3984117"/>
                  </a:lnTo>
                  <a:cubicBezTo>
                    <a:pt x="51203" y="3984117"/>
                    <a:pt x="0" y="3917950"/>
                    <a:pt x="0" y="3836543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4297" y="3884105"/>
            <a:ext cx="3733790" cy="1538511"/>
            <a:chOff x="0" y="0"/>
            <a:chExt cx="4978386" cy="20513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8387" cy="2051348"/>
            </a:xfrm>
            <a:custGeom>
              <a:avLst/>
              <a:gdLst/>
              <a:ahLst/>
              <a:cxnLst/>
              <a:rect r="r" b="b" t="t" l="l"/>
              <a:pathLst>
                <a:path h="2051348" w="4978387">
                  <a:moveTo>
                    <a:pt x="0" y="0"/>
                  </a:moveTo>
                  <a:lnTo>
                    <a:pt x="4978387" y="0"/>
                  </a:lnTo>
                  <a:lnTo>
                    <a:pt x="4978387" y="2051348"/>
                  </a:lnTo>
                  <a:lnTo>
                    <a:pt x="0" y="2051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0" r="-28975" b="21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978386" cy="2041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60"/>
                </a:lnSpc>
              </a:pPr>
              <a:r>
                <a:rPr lang="en-US" sz="6800" b="true">
                  <a:solidFill>
                    <a:srgbClr val="6B728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6091" y="5256865"/>
            <a:ext cx="3450202" cy="548640"/>
            <a:chOff x="0" y="0"/>
            <a:chExt cx="4600269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00270" cy="731520"/>
            </a:xfrm>
            <a:custGeom>
              <a:avLst/>
              <a:gdLst/>
              <a:ahLst/>
              <a:cxnLst/>
              <a:rect r="r" b="b" t="t" l="l"/>
              <a:pathLst>
                <a:path h="731520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039" r="-28975" b="-10803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600269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raw transactions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286" y="5785882"/>
            <a:ext cx="3415504" cy="796580"/>
            <a:chOff x="0" y="0"/>
            <a:chExt cx="4600269" cy="10728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0027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54" r="-28975" b="-5775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600269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as imported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5598376" y="5329257"/>
            <a:ext cx="659889" cy="38095"/>
          </a:xfrm>
          <a:prstGeom prst="line">
            <a:avLst/>
          </a:prstGeom>
          <a:ln cap="rnd" w="19050">
            <a:solidFill>
              <a:srgbClr val="9CA3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5044326" y="3854280"/>
            <a:ext cx="3715738" cy="2958009"/>
            <a:chOff x="0" y="0"/>
            <a:chExt cx="5004648" cy="39840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04638" cy="3984117"/>
            </a:xfrm>
            <a:custGeom>
              <a:avLst/>
              <a:gdLst/>
              <a:ahLst/>
              <a:cxnLst/>
              <a:rect r="r" b="b" t="t" l="l"/>
              <a:pathLst>
                <a:path h="3984117" w="5004638">
                  <a:moveTo>
                    <a:pt x="0" y="147574"/>
                  </a:moveTo>
                  <a:cubicBezTo>
                    <a:pt x="0" y="66040"/>
                    <a:pt x="51203" y="0"/>
                    <a:pt x="114420" y="0"/>
                  </a:cubicBezTo>
                  <a:lnTo>
                    <a:pt x="4890218" y="0"/>
                  </a:lnTo>
                  <a:cubicBezTo>
                    <a:pt x="4953434" y="0"/>
                    <a:pt x="5004638" y="66040"/>
                    <a:pt x="5004638" y="147574"/>
                  </a:cubicBezTo>
                  <a:lnTo>
                    <a:pt x="5004638" y="3836543"/>
                  </a:lnTo>
                  <a:cubicBezTo>
                    <a:pt x="5004638" y="3918077"/>
                    <a:pt x="4953434" y="3984117"/>
                    <a:pt x="4890218" y="3984117"/>
                  </a:cubicBezTo>
                  <a:lnTo>
                    <a:pt x="114420" y="3984117"/>
                  </a:lnTo>
                  <a:cubicBezTo>
                    <a:pt x="51203" y="3984117"/>
                    <a:pt x="0" y="3917950"/>
                    <a:pt x="0" y="3836543"/>
                  </a:cubicBez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105416" y="3884105"/>
            <a:ext cx="3733790" cy="1538511"/>
            <a:chOff x="0" y="0"/>
            <a:chExt cx="4978386" cy="20513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78387" cy="2051348"/>
            </a:xfrm>
            <a:custGeom>
              <a:avLst/>
              <a:gdLst/>
              <a:ahLst/>
              <a:cxnLst/>
              <a:rect r="r" b="b" t="t" l="l"/>
              <a:pathLst>
                <a:path h="2051348" w="4978387">
                  <a:moveTo>
                    <a:pt x="0" y="0"/>
                  </a:moveTo>
                  <a:lnTo>
                    <a:pt x="4978387" y="0"/>
                  </a:lnTo>
                  <a:lnTo>
                    <a:pt x="4978387" y="2051348"/>
                  </a:lnTo>
                  <a:lnTo>
                    <a:pt x="0" y="2051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0" r="-28975" b="21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978386" cy="2041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60"/>
                </a:lnSpc>
              </a:pPr>
              <a:r>
                <a:rPr lang="en-US" sz="6800" b="true">
                  <a:solidFill>
                    <a:srgbClr val="2563E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47210" y="5256865"/>
            <a:ext cx="3450202" cy="548640"/>
            <a:chOff x="0" y="0"/>
            <a:chExt cx="4600269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00270" cy="731520"/>
            </a:xfrm>
            <a:custGeom>
              <a:avLst/>
              <a:gdLst/>
              <a:ahLst/>
              <a:cxnLst/>
              <a:rect r="r" b="b" t="t" l="l"/>
              <a:pathLst>
                <a:path h="731520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039" r="-28975" b="-1080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600269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distinct counterparties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94439" y="5785882"/>
            <a:ext cx="3415504" cy="796580"/>
            <a:chOff x="0" y="0"/>
            <a:chExt cx="4600269" cy="10728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0027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54" r="-28975" b="-577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600269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counterparty.ts groups them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365040" y="5329257"/>
            <a:ext cx="659889" cy="38095"/>
          </a:xfrm>
          <a:prstGeom prst="line">
            <a:avLst/>
          </a:prstGeom>
          <a:ln cap="rnd" w="19050">
            <a:solidFill>
              <a:srgbClr val="9CA3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9470479" y="3854280"/>
            <a:ext cx="3715738" cy="2958009"/>
            <a:chOff x="0" y="0"/>
            <a:chExt cx="5004648" cy="39840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04638" cy="3984117"/>
            </a:xfrm>
            <a:custGeom>
              <a:avLst/>
              <a:gdLst/>
              <a:ahLst/>
              <a:cxnLst/>
              <a:rect r="r" b="b" t="t" l="l"/>
              <a:pathLst>
                <a:path h="3984117" w="5004638">
                  <a:moveTo>
                    <a:pt x="0" y="147574"/>
                  </a:moveTo>
                  <a:cubicBezTo>
                    <a:pt x="0" y="66040"/>
                    <a:pt x="51203" y="0"/>
                    <a:pt x="114420" y="0"/>
                  </a:cubicBezTo>
                  <a:lnTo>
                    <a:pt x="4890218" y="0"/>
                  </a:lnTo>
                  <a:cubicBezTo>
                    <a:pt x="4953434" y="0"/>
                    <a:pt x="5004638" y="66040"/>
                    <a:pt x="5004638" y="147574"/>
                  </a:cubicBezTo>
                  <a:lnTo>
                    <a:pt x="5004638" y="3836543"/>
                  </a:lnTo>
                  <a:cubicBezTo>
                    <a:pt x="5004638" y="3918077"/>
                    <a:pt x="4953434" y="3984117"/>
                    <a:pt x="4890218" y="3984117"/>
                  </a:cubicBezTo>
                  <a:lnTo>
                    <a:pt x="114420" y="3984117"/>
                  </a:lnTo>
                  <a:cubicBezTo>
                    <a:pt x="51203" y="3984117"/>
                    <a:pt x="0" y="3917950"/>
                    <a:pt x="0" y="3836543"/>
                  </a:cubicBez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576534" y="3884105"/>
            <a:ext cx="3733790" cy="1538511"/>
            <a:chOff x="0" y="0"/>
            <a:chExt cx="4978386" cy="20513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78387" cy="2051348"/>
            </a:xfrm>
            <a:custGeom>
              <a:avLst/>
              <a:gdLst/>
              <a:ahLst/>
              <a:cxnLst/>
              <a:rect r="r" b="b" t="t" l="l"/>
              <a:pathLst>
                <a:path h="2051348" w="4978387">
                  <a:moveTo>
                    <a:pt x="0" y="0"/>
                  </a:moveTo>
                  <a:lnTo>
                    <a:pt x="4978387" y="0"/>
                  </a:lnTo>
                  <a:lnTo>
                    <a:pt x="4978387" y="2051348"/>
                  </a:lnTo>
                  <a:lnTo>
                    <a:pt x="0" y="2051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0" r="-28975" b="21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4978386" cy="2041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60"/>
                </a:lnSpc>
              </a:pPr>
              <a:r>
                <a:rPr lang="en-US" sz="6800" b="true">
                  <a:solidFill>
                    <a:srgbClr val="B4530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⌈M/15⌉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18328" y="5256865"/>
            <a:ext cx="3450202" cy="548640"/>
            <a:chOff x="0" y="0"/>
            <a:chExt cx="4600269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00270" cy="731520"/>
            </a:xfrm>
            <a:custGeom>
              <a:avLst/>
              <a:gdLst/>
              <a:ahLst/>
              <a:cxnLst/>
              <a:rect r="r" b="b" t="t" l="l"/>
              <a:pathLst>
                <a:path h="731520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039" r="-28975" b="-1080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600269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API calls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20592" y="5785882"/>
            <a:ext cx="3415504" cy="796580"/>
            <a:chOff x="0" y="0"/>
            <a:chExt cx="4600269" cy="10728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0027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54" r="-28975" b="-5775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600269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batches of 15, Promise.all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7131703" y="5329257"/>
            <a:ext cx="659889" cy="38095"/>
          </a:xfrm>
          <a:prstGeom prst="line">
            <a:avLst/>
          </a:prstGeom>
          <a:ln cap="rnd" w="19050">
            <a:solidFill>
              <a:srgbClr val="9CA3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9" id="49"/>
          <p:cNvGrpSpPr/>
          <p:nvPr/>
        </p:nvGrpSpPr>
        <p:grpSpPr>
          <a:xfrm rot="0">
            <a:off x="13896632" y="3854280"/>
            <a:ext cx="3715738" cy="2958009"/>
            <a:chOff x="0" y="0"/>
            <a:chExt cx="5004648" cy="398407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04638" cy="3984117"/>
            </a:xfrm>
            <a:custGeom>
              <a:avLst/>
              <a:gdLst/>
              <a:ahLst/>
              <a:cxnLst/>
              <a:rect r="r" b="b" t="t" l="l"/>
              <a:pathLst>
                <a:path h="3984117" w="5004638">
                  <a:moveTo>
                    <a:pt x="0" y="147574"/>
                  </a:moveTo>
                  <a:cubicBezTo>
                    <a:pt x="0" y="66040"/>
                    <a:pt x="51203" y="0"/>
                    <a:pt x="114420" y="0"/>
                  </a:cubicBezTo>
                  <a:lnTo>
                    <a:pt x="4890218" y="0"/>
                  </a:lnTo>
                  <a:cubicBezTo>
                    <a:pt x="4953434" y="0"/>
                    <a:pt x="5004638" y="66040"/>
                    <a:pt x="5004638" y="147574"/>
                  </a:cubicBezTo>
                  <a:lnTo>
                    <a:pt x="5004638" y="3836543"/>
                  </a:lnTo>
                  <a:cubicBezTo>
                    <a:pt x="5004638" y="3918077"/>
                    <a:pt x="4953434" y="3984117"/>
                    <a:pt x="4890218" y="3984117"/>
                  </a:cubicBezTo>
                  <a:lnTo>
                    <a:pt x="114420" y="3984117"/>
                  </a:lnTo>
                  <a:cubicBezTo>
                    <a:pt x="51203" y="3984117"/>
                    <a:pt x="0" y="3917950"/>
                    <a:pt x="0" y="3836543"/>
                  </a:cubicBezTo>
                  <a:close/>
                </a:path>
              </a:pathLst>
            </a:custGeom>
            <a:solidFill>
              <a:srgbClr val="D1FAE5"/>
            </a:solidFill>
            <a:ln w="2540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4047652" y="3884105"/>
            <a:ext cx="3733790" cy="1538511"/>
            <a:chOff x="0" y="0"/>
            <a:chExt cx="4978386" cy="20513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78387" cy="2051348"/>
            </a:xfrm>
            <a:custGeom>
              <a:avLst/>
              <a:gdLst/>
              <a:ahLst/>
              <a:cxnLst/>
              <a:rect r="r" b="b" t="t" l="l"/>
              <a:pathLst>
                <a:path h="2051348" w="4978387">
                  <a:moveTo>
                    <a:pt x="0" y="0"/>
                  </a:moveTo>
                  <a:lnTo>
                    <a:pt x="4978387" y="0"/>
                  </a:lnTo>
                  <a:lnTo>
                    <a:pt x="4978387" y="2051348"/>
                  </a:lnTo>
                  <a:lnTo>
                    <a:pt x="0" y="2051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40" r="-28975" b="21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4978386" cy="2041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60"/>
                </a:lnSpc>
              </a:pPr>
              <a:r>
                <a:rPr lang="en-US" sz="6800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189446" y="5256865"/>
            <a:ext cx="3450202" cy="548640"/>
            <a:chOff x="0" y="0"/>
            <a:chExt cx="4600269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00270" cy="731520"/>
            </a:xfrm>
            <a:custGeom>
              <a:avLst/>
              <a:gdLst/>
              <a:ahLst/>
              <a:cxnLst/>
              <a:rect r="r" b="b" t="t" l="l"/>
              <a:pathLst>
                <a:path h="731520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039" r="-28975" b="-10803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600269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on a repeat run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046745" y="5785882"/>
            <a:ext cx="3415504" cy="796580"/>
            <a:chOff x="0" y="0"/>
            <a:chExt cx="4600269" cy="10728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0027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600270">
                  <a:moveTo>
                    <a:pt x="0" y="0"/>
                  </a:moveTo>
                  <a:lnTo>
                    <a:pt x="4600270" y="0"/>
                  </a:lnTo>
                  <a:lnTo>
                    <a:pt x="460027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54" r="-28975" b="-5775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600269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in-memory cache hit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18173" y="7330264"/>
            <a:ext cx="8296295" cy="2956736"/>
            <a:chOff x="0" y="0"/>
            <a:chExt cx="11174103" cy="39823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174054" cy="3982278"/>
            </a:xfrm>
            <a:custGeom>
              <a:avLst/>
              <a:gdLst/>
              <a:ahLst/>
              <a:cxnLst/>
              <a:rect r="r" b="b" t="t" l="l"/>
              <a:pathLst>
                <a:path h="3982278" w="11174054">
                  <a:moveTo>
                    <a:pt x="0" y="143862"/>
                  </a:moveTo>
                  <a:cubicBezTo>
                    <a:pt x="0" y="64434"/>
                    <a:pt x="51203" y="0"/>
                    <a:pt x="114321" y="0"/>
                  </a:cubicBezTo>
                  <a:lnTo>
                    <a:pt x="11059733" y="0"/>
                  </a:lnTo>
                  <a:cubicBezTo>
                    <a:pt x="11122851" y="0"/>
                    <a:pt x="11174054" y="64434"/>
                    <a:pt x="11174054" y="143862"/>
                  </a:cubicBezTo>
                  <a:lnTo>
                    <a:pt x="11174054" y="3838417"/>
                  </a:lnTo>
                  <a:cubicBezTo>
                    <a:pt x="11174054" y="3917844"/>
                    <a:pt x="11122851" y="3982278"/>
                    <a:pt x="11059733" y="3982278"/>
                  </a:cubicBezTo>
                  <a:lnTo>
                    <a:pt x="114321" y="3982278"/>
                  </a:lnTo>
                  <a:cubicBezTo>
                    <a:pt x="51203" y="3982403"/>
                    <a:pt x="0" y="3917968"/>
                    <a:pt x="0" y="38384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00885" y="7751100"/>
            <a:ext cx="7659178" cy="724163"/>
            <a:chOff x="0" y="0"/>
            <a:chExt cx="10315984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15985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5985">
                  <a:moveTo>
                    <a:pt x="0" y="0"/>
                  </a:moveTo>
                  <a:lnTo>
                    <a:pt x="10315985" y="0"/>
                  </a:lnTo>
                  <a:lnTo>
                    <a:pt x="1031598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75" b="-2158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0315984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Why it matters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028700" y="8451812"/>
            <a:ext cx="7490737" cy="15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2177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M is far smaller than N in real statements, and repeat merchants dominate. Grouping turns a per-row cost into a per-merchant cost, then batching turns that into a handful of calls.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419039" y="7330264"/>
            <a:ext cx="8296295" cy="2956736"/>
            <a:chOff x="0" y="0"/>
            <a:chExt cx="11174103" cy="39823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174054" cy="3982278"/>
            </a:xfrm>
            <a:custGeom>
              <a:avLst/>
              <a:gdLst/>
              <a:ahLst/>
              <a:cxnLst/>
              <a:rect r="r" b="b" t="t" l="l"/>
              <a:pathLst>
                <a:path h="3982278" w="11174054">
                  <a:moveTo>
                    <a:pt x="0" y="143862"/>
                  </a:moveTo>
                  <a:cubicBezTo>
                    <a:pt x="0" y="64434"/>
                    <a:pt x="51203" y="0"/>
                    <a:pt x="114321" y="0"/>
                  </a:cubicBezTo>
                  <a:lnTo>
                    <a:pt x="11059733" y="0"/>
                  </a:lnTo>
                  <a:cubicBezTo>
                    <a:pt x="11122851" y="0"/>
                    <a:pt x="11174054" y="64434"/>
                    <a:pt x="11174054" y="143862"/>
                  </a:cubicBezTo>
                  <a:lnTo>
                    <a:pt x="11174054" y="3838417"/>
                  </a:lnTo>
                  <a:cubicBezTo>
                    <a:pt x="11174054" y="3917844"/>
                    <a:pt x="11122851" y="3982278"/>
                    <a:pt x="11059733" y="3982278"/>
                  </a:cubicBezTo>
                  <a:lnTo>
                    <a:pt x="114321" y="3982278"/>
                  </a:lnTo>
                  <a:cubicBezTo>
                    <a:pt x="51203" y="3982403"/>
                    <a:pt x="0" y="3917968"/>
                    <a:pt x="0" y="38384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803071" y="7751100"/>
            <a:ext cx="7659178" cy="724163"/>
            <a:chOff x="0" y="0"/>
            <a:chExt cx="10315984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315985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5985">
                  <a:moveTo>
                    <a:pt x="0" y="0"/>
                  </a:moveTo>
                  <a:lnTo>
                    <a:pt x="10315985" y="0"/>
                  </a:lnTo>
                  <a:lnTo>
                    <a:pt x="1031598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75" b="-21580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315984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Measured, not claimed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768563" y="8451812"/>
            <a:ext cx="7490737" cy="15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2177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The endpoint returns totalTransactions, distinctCounterparties, apiCallsMade, cachedHits and reductionPercentage on every call, the saving is reported from the run, not estimated in a slide.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3856" y="768096"/>
            <a:ext cx="22115678" cy="438912"/>
            <a:chOff x="0" y="0"/>
            <a:chExt cx="29487571" cy="585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87571" cy="585216"/>
            </a:xfrm>
            <a:custGeom>
              <a:avLst/>
              <a:gdLst/>
              <a:ahLst/>
              <a:cxnLst/>
              <a:rect r="r" b="b" t="t" l="l"/>
              <a:pathLst>
                <a:path h="585216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1802" r="0" b="-9318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487571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STATEMENT INGESTION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07008"/>
            <a:ext cx="22115678" cy="1060704"/>
            <a:chOff x="0" y="0"/>
            <a:chExt cx="29487571" cy="14142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48757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9487571">
                  <a:moveTo>
                    <a:pt x="0" y="0"/>
                  </a:moveTo>
                  <a:lnTo>
                    <a:pt x="29487571" y="0"/>
                  </a:lnTo>
                  <a:lnTo>
                    <a:pt x="29487571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263" r="0" b="-356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487571" cy="1414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Three ways in, one safe path to the database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0816" y="2377440"/>
            <a:ext cx="1251822" cy="82296"/>
            <a:chOff x="0" y="0"/>
            <a:chExt cx="1669096" cy="109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69096" cy="109728"/>
            </a:xfrm>
            <a:custGeom>
              <a:avLst/>
              <a:gdLst/>
              <a:ahLst/>
              <a:cxnLst/>
              <a:rect r="r" b="b" t="t" l="l"/>
              <a:pathLst>
                <a:path h="109728" w="1669096">
                  <a:moveTo>
                    <a:pt x="0" y="0"/>
                  </a:moveTo>
                  <a:lnTo>
                    <a:pt x="1669096" y="0"/>
                  </a:lnTo>
                  <a:lnTo>
                    <a:pt x="1669096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20444" y="3023111"/>
            <a:ext cx="4203534" cy="4999739"/>
            <a:chOff x="0" y="0"/>
            <a:chExt cx="5604712" cy="66663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04724" cy="6666357"/>
            </a:xfrm>
            <a:custGeom>
              <a:avLst/>
              <a:gdLst/>
              <a:ahLst/>
              <a:cxnLst/>
              <a:rect r="r" b="b" t="t" l="l"/>
              <a:pathLst>
                <a:path h="6666357" w="5604724">
                  <a:moveTo>
                    <a:pt x="0" y="147066"/>
                  </a:moveTo>
                  <a:cubicBezTo>
                    <a:pt x="0" y="65786"/>
                    <a:pt x="38790" y="0"/>
                    <a:pt x="86715" y="0"/>
                  </a:cubicBezTo>
                  <a:lnTo>
                    <a:pt x="5518004" y="0"/>
                  </a:lnTo>
                  <a:cubicBezTo>
                    <a:pt x="5565930" y="0"/>
                    <a:pt x="5604724" y="65786"/>
                    <a:pt x="5604724" y="147066"/>
                  </a:cubicBezTo>
                  <a:lnTo>
                    <a:pt x="5604724" y="6519291"/>
                  </a:lnTo>
                  <a:cubicBezTo>
                    <a:pt x="5604724" y="6600572"/>
                    <a:pt x="5565930" y="6666357"/>
                    <a:pt x="5518004" y="6666357"/>
                  </a:cubicBezTo>
                  <a:lnTo>
                    <a:pt x="86715" y="6666357"/>
                  </a:lnTo>
                  <a:cubicBezTo>
                    <a:pt x="38790" y="6666357"/>
                    <a:pt x="0" y="6600444"/>
                    <a:pt x="0" y="6519291"/>
                  </a:cubicBez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27931" y="3328416"/>
            <a:ext cx="59308" cy="4389120"/>
            <a:chOff x="0" y="0"/>
            <a:chExt cx="79077" cy="5852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077" cy="5852160"/>
            </a:xfrm>
            <a:custGeom>
              <a:avLst/>
              <a:gdLst/>
              <a:ahLst/>
              <a:cxnLst/>
              <a:rect r="r" b="b" t="t" l="l"/>
              <a:pathLst>
                <a:path h="5852160" w="79077">
                  <a:moveTo>
                    <a:pt x="0" y="0"/>
                  </a:moveTo>
                  <a:lnTo>
                    <a:pt x="79077" y="0"/>
                  </a:lnTo>
                  <a:lnTo>
                    <a:pt x="79077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86728" y="3328416"/>
            <a:ext cx="3714094" cy="731520"/>
            <a:chOff x="0" y="0"/>
            <a:chExt cx="4952126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2125" cy="975360"/>
            </a:xfrm>
            <a:custGeom>
              <a:avLst/>
              <a:gdLst/>
              <a:ahLst/>
              <a:cxnLst/>
              <a:rect r="r" b="b" t="t" l="l"/>
              <a:pathLst>
                <a:path h="975360" w="4952125">
                  <a:moveTo>
                    <a:pt x="0" y="0"/>
                  </a:moveTo>
                  <a:lnTo>
                    <a:pt x="4952125" y="0"/>
                  </a:lnTo>
                  <a:lnTo>
                    <a:pt x="495212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2" r="-69597" b="-1177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952126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CSV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40644" y="4094607"/>
            <a:ext cx="3584696" cy="35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199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PapaParse streams the file client-side and auto-detects column variants — Date / Posting Date, Description / Memo / Payee, Amount / Debit / Credit.</a:t>
            </a:r>
          </a:p>
          <a:p>
            <a:pPr algn="l">
              <a:lnSpc>
                <a:spcPts val="3167"/>
              </a:lnSpc>
            </a:pPr>
          </a:p>
          <a:p>
            <a:pPr algn="l">
              <a:lnSpc>
                <a:spcPts val="3167"/>
              </a:lnSpc>
            </a:pPr>
            <a:r>
              <a:rPr lang="en-US" sz="2199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Live preview table before anything is committed.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546230" y="3023111"/>
            <a:ext cx="4203534" cy="4999739"/>
            <a:chOff x="0" y="0"/>
            <a:chExt cx="5604712" cy="66663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04724" cy="6666357"/>
            </a:xfrm>
            <a:custGeom>
              <a:avLst/>
              <a:gdLst/>
              <a:ahLst/>
              <a:cxnLst/>
              <a:rect r="r" b="b" t="t" l="l"/>
              <a:pathLst>
                <a:path h="6666357" w="5604724">
                  <a:moveTo>
                    <a:pt x="0" y="147066"/>
                  </a:moveTo>
                  <a:cubicBezTo>
                    <a:pt x="0" y="65786"/>
                    <a:pt x="38790" y="0"/>
                    <a:pt x="86715" y="0"/>
                  </a:cubicBezTo>
                  <a:lnTo>
                    <a:pt x="5518004" y="0"/>
                  </a:lnTo>
                  <a:cubicBezTo>
                    <a:pt x="5565930" y="0"/>
                    <a:pt x="5604724" y="65786"/>
                    <a:pt x="5604724" y="147066"/>
                  </a:cubicBezTo>
                  <a:lnTo>
                    <a:pt x="5604724" y="6519291"/>
                  </a:lnTo>
                  <a:cubicBezTo>
                    <a:pt x="5604724" y="6600572"/>
                    <a:pt x="5565930" y="6666357"/>
                    <a:pt x="5518004" y="6666357"/>
                  </a:cubicBezTo>
                  <a:lnTo>
                    <a:pt x="86715" y="6666357"/>
                  </a:lnTo>
                  <a:cubicBezTo>
                    <a:pt x="38790" y="6666357"/>
                    <a:pt x="0" y="6600444"/>
                    <a:pt x="0" y="6519291"/>
                  </a:cubicBezTo>
                  <a:close/>
                </a:path>
              </a:pathLst>
            </a:custGeom>
            <a:solidFill>
              <a:srgbClr val="EDE9FE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553716" y="3328416"/>
            <a:ext cx="59308" cy="4389120"/>
            <a:chOff x="0" y="0"/>
            <a:chExt cx="79077" cy="5852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077" cy="5852160"/>
            </a:xfrm>
            <a:custGeom>
              <a:avLst/>
              <a:gdLst/>
              <a:ahLst/>
              <a:cxnLst/>
              <a:rect r="r" b="b" t="t" l="l"/>
              <a:pathLst>
                <a:path h="5852160" w="79077">
                  <a:moveTo>
                    <a:pt x="0" y="0"/>
                  </a:moveTo>
                  <a:lnTo>
                    <a:pt x="79077" y="0"/>
                  </a:lnTo>
                  <a:lnTo>
                    <a:pt x="79077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6D28D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812513" y="3328416"/>
            <a:ext cx="3714094" cy="731520"/>
            <a:chOff x="0" y="0"/>
            <a:chExt cx="4952126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2125" cy="975360"/>
            </a:xfrm>
            <a:custGeom>
              <a:avLst/>
              <a:gdLst/>
              <a:ahLst/>
              <a:cxnLst/>
              <a:rect r="r" b="b" t="t" l="l"/>
              <a:pathLst>
                <a:path h="975360" w="4952125">
                  <a:moveTo>
                    <a:pt x="0" y="0"/>
                  </a:moveTo>
                  <a:lnTo>
                    <a:pt x="4952125" y="0"/>
                  </a:lnTo>
                  <a:lnTo>
                    <a:pt x="495212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2" r="-69597" b="-1177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952126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PDF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866429" y="4094607"/>
            <a:ext cx="3584696" cy="35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199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pdfjs-dist extracts text server-side and rebuilds table rows by bucketing items on their Y-coordinate.</a:t>
            </a:r>
          </a:p>
          <a:p>
            <a:pPr algn="l">
              <a:lnSpc>
                <a:spcPts val="3167"/>
              </a:lnSpc>
            </a:pPr>
          </a:p>
          <a:p>
            <a:pPr algn="l">
              <a:lnSpc>
                <a:spcPts val="3167"/>
              </a:lnSpc>
            </a:pPr>
            <a:r>
              <a:rPr lang="en-US" sz="2199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Password-protected statements return PASSWORD_REQUIRED so the UI can prompt and retry.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72016" y="3023111"/>
            <a:ext cx="4203534" cy="4999739"/>
            <a:chOff x="0" y="0"/>
            <a:chExt cx="5604712" cy="6666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04724" cy="6666357"/>
            </a:xfrm>
            <a:custGeom>
              <a:avLst/>
              <a:gdLst/>
              <a:ahLst/>
              <a:cxnLst/>
              <a:rect r="r" b="b" t="t" l="l"/>
              <a:pathLst>
                <a:path h="6666357" w="5604724">
                  <a:moveTo>
                    <a:pt x="0" y="147066"/>
                  </a:moveTo>
                  <a:cubicBezTo>
                    <a:pt x="0" y="65786"/>
                    <a:pt x="38790" y="0"/>
                    <a:pt x="86715" y="0"/>
                  </a:cubicBezTo>
                  <a:lnTo>
                    <a:pt x="5518004" y="0"/>
                  </a:lnTo>
                  <a:cubicBezTo>
                    <a:pt x="5565930" y="0"/>
                    <a:pt x="5604724" y="65786"/>
                    <a:pt x="5604724" y="147066"/>
                  </a:cubicBezTo>
                  <a:lnTo>
                    <a:pt x="5604724" y="6519291"/>
                  </a:lnTo>
                  <a:cubicBezTo>
                    <a:pt x="5604724" y="6600572"/>
                    <a:pt x="5565930" y="6666357"/>
                    <a:pt x="5518004" y="6666357"/>
                  </a:cubicBezTo>
                  <a:lnTo>
                    <a:pt x="86715" y="6666357"/>
                  </a:lnTo>
                  <a:cubicBezTo>
                    <a:pt x="38790" y="6666357"/>
                    <a:pt x="0" y="6600444"/>
                    <a:pt x="0" y="6519291"/>
                  </a:cubicBez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979502" y="3328416"/>
            <a:ext cx="59308" cy="4389120"/>
            <a:chOff x="0" y="0"/>
            <a:chExt cx="79077" cy="5852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077" cy="5852160"/>
            </a:xfrm>
            <a:custGeom>
              <a:avLst/>
              <a:gdLst/>
              <a:ahLst/>
              <a:cxnLst/>
              <a:rect r="r" b="b" t="t" l="l"/>
              <a:pathLst>
                <a:path h="5852160" w="79077">
                  <a:moveTo>
                    <a:pt x="0" y="0"/>
                  </a:moveTo>
                  <a:lnTo>
                    <a:pt x="79077" y="0"/>
                  </a:lnTo>
                  <a:lnTo>
                    <a:pt x="79077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38299" y="3328416"/>
            <a:ext cx="3714094" cy="731520"/>
            <a:chOff x="0" y="0"/>
            <a:chExt cx="4952126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52125" cy="975360"/>
            </a:xfrm>
            <a:custGeom>
              <a:avLst/>
              <a:gdLst/>
              <a:ahLst/>
              <a:cxnLst/>
              <a:rect r="r" b="b" t="t" l="l"/>
              <a:pathLst>
                <a:path h="975360" w="4952125">
                  <a:moveTo>
                    <a:pt x="0" y="0"/>
                  </a:moveTo>
                  <a:lnTo>
                    <a:pt x="4952125" y="0"/>
                  </a:lnTo>
                  <a:lnTo>
                    <a:pt x="495212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2" r="-69597" b="-1177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4952126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Raw → Claude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292215" y="4094607"/>
            <a:ext cx="3584696" cy="318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199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Hand the statement text straight to Claude and get back ISO dates, canonical merchant names, signed amounts and categories.</a:t>
            </a:r>
          </a:p>
          <a:p>
            <a:pPr algn="l">
              <a:lnSpc>
                <a:spcPts val="3167"/>
              </a:lnSpc>
            </a:pPr>
          </a:p>
          <a:p>
            <a:pPr algn="l">
              <a:lnSpc>
                <a:spcPts val="3167"/>
              </a:lnSpc>
            </a:pPr>
            <a:r>
              <a:rPr lang="en-US" sz="2199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For formats no parser anticipated.</a:t>
            </a:r>
          </a:p>
        </p:txBody>
      </p:sp>
      <p:sp>
        <p:nvSpPr>
          <p:cNvPr name="AutoShape 37" id="37"/>
          <p:cNvSpPr/>
          <p:nvPr/>
        </p:nvSpPr>
        <p:spPr>
          <a:xfrm rot="5177100">
            <a:off x="4391701" y="8421243"/>
            <a:ext cx="587978" cy="0"/>
          </a:xfrm>
          <a:prstGeom prst="line">
            <a:avLst/>
          </a:prstGeom>
          <a:ln cap="rnd" w="19050">
            <a:solidFill>
              <a:srgbClr val="9CA3A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rot="5177100">
            <a:off x="11897706" y="8421243"/>
            <a:ext cx="587978" cy="0"/>
          </a:xfrm>
          <a:prstGeom prst="line">
            <a:avLst/>
          </a:prstGeom>
          <a:ln cap="rnd" w="19050">
            <a:solidFill>
              <a:srgbClr val="9CA3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117978" y="8715561"/>
            <a:ext cx="16528757" cy="1280516"/>
            <a:chOff x="0" y="0"/>
            <a:chExt cx="22038342" cy="17073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38354" cy="1707444"/>
            </a:xfrm>
            <a:custGeom>
              <a:avLst/>
              <a:gdLst/>
              <a:ahLst/>
              <a:cxnLst/>
              <a:rect r="r" b="b" t="t" l="l"/>
              <a:pathLst>
                <a:path h="1707444" w="22038354">
                  <a:moveTo>
                    <a:pt x="0" y="100466"/>
                  </a:moveTo>
                  <a:cubicBezTo>
                    <a:pt x="0" y="45004"/>
                    <a:pt x="49760" y="0"/>
                    <a:pt x="111083" y="0"/>
                  </a:cubicBezTo>
                  <a:lnTo>
                    <a:pt x="21927268" y="0"/>
                  </a:lnTo>
                  <a:cubicBezTo>
                    <a:pt x="21988591" y="0"/>
                    <a:pt x="22038354" y="45004"/>
                    <a:pt x="22038354" y="100466"/>
                  </a:cubicBezTo>
                  <a:lnTo>
                    <a:pt x="22038354" y="1606949"/>
                  </a:lnTo>
                  <a:cubicBezTo>
                    <a:pt x="22038354" y="1662411"/>
                    <a:pt x="21988591" y="1707444"/>
                    <a:pt x="21927268" y="1707444"/>
                  </a:cubicBezTo>
                  <a:lnTo>
                    <a:pt x="111083" y="1707444"/>
                  </a:lnTo>
                  <a:cubicBezTo>
                    <a:pt x="49760" y="1707329"/>
                    <a:pt x="0" y="1662411"/>
                    <a:pt x="0" y="1606949"/>
                  </a:cubicBezTo>
                  <a:close/>
                </a:path>
              </a:pathLst>
            </a:custGeom>
            <a:solidFill>
              <a:srgbClr val="F8FAFC"/>
            </a:solidFill>
            <a:ln w="317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84687" y="8792768"/>
            <a:ext cx="4367502" cy="541883"/>
            <a:chOff x="0" y="0"/>
            <a:chExt cx="5823336" cy="7225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23336" cy="722511"/>
            </a:xfrm>
            <a:custGeom>
              <a:avLst/>
              <a:gdLst/>
              <a:ahLst/>
              <a:cxnLst/>
              <a:rect r="r" b="b" t="t" l="l"/>
              <a:pathLst>
                <a:path h="722511" w="5823336">
                  <a:moveTo>
                    <a:pt x="0" y="0"/>
                  </a:moveTo>
                  <a:lnTo>
                    <a:pt x="5823336" y="0"/>
                  </a:lnTo>
                  <a:lnTo>
                    <a:pt x="5823336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808" r="-33993" b="-1610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823336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All three converge here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84687" y="9203734"/>
            <a:ext cx="15795345" cy="792342"/>
            <a:chOff x="0" y="0"/>
            <a:chExt cx="21060459" cy="10564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060459" cy="1056457"/>
            </a:xfrm>
            <a:custGeom>
              <a:avLst/>
              <a:gdLst/>
              <a:ahLst/>
              <a:cxnLst/>
              <a:rect r="r" b="b" t="t" l="l"/>
              <a:pathLst>
                <a:path h="1056457" w="21060459">
                  <a:moveTo>
                    <a:pt x="0" y="0"/>
                  </a:moveTo>
                  <a:lnTo>
                    <a:pt x="21060459" y="0"/>
                  </a:lnTo>
                  <a:lnTo>
                    <a:pt x="21060459" y="1056457"/>
                  </a:lnTo>
                  <a:lnTo>
                    <a:pt x="0" y="10564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313" r="-33993" b="-4666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1060459" cy="1104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dedupe on (date + description + amount)   →   tagged with an importBatchId   →   batch insert, scoped to the session user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1004" y="751669"/>
            <a:ext cx="17147145" cy="471767"/>
            <a:chOff x="0" y="0"/>
            <a:chExt cx="22862860" cy="6290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2859" cy="629022"/>
            </a:xfrm>
            <a:custGeom>
              <a:avLst/>
              <a:gdLst/>
              <a:ahLst/>
              <a:cxnLst/>
              <a:rect r="r" b="b" t="t" l="l"/>
              <a:pathLst>
                <a:path h="629022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629022"/>
                  </a:lnTo>
                  <a:lnTo>
                    <a:pt x="0" y="6290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910" r="-28975" b="-8599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862860" cy="629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SECURITY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1004" y="1081791"/>
            <a:ext cx="17147145" cy="1311138"/>
            <a:chOff x="0" y="0"/>
            <a:chExt cx="22862860" cy="17481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2859" cy="1748185"/>
            </a:xfrm>
            <a:custGeom>
              <a:avLst/>
              <a:gdLst/>
              <a:ahLst/>
              <a:cxnLst/>
              <a:rect r="r" b="b" t="t" l="l"/>
              <a:pathLst>
                <a:path h="1748185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1748185"/>
                  </a:lnTo>
                  <a:lnTo>
                    <a:pt x="0" y="17481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214" r="-28975" b="-26911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862860" cy="174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Tenancy is enforced at the query, not the UI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1004" y="2377440"/>
            <a:ext cx="1276146" cy="82296"/>
            <a:chOff x="0" y="0"/>
            <a:chExt cx="1701528" cy="109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1528" cy="109728"/>
            </a:xfrm>
            <a:custGeom>
              <a:avLst/>
              <a:gdLst/>
              <a:ahLst/>
              <a:cxnLst/>
              <a:rect r="r" b="b" t="t" l="l"/>
              <a:pathLst>
                <a:path h="109728" w="1701528">
                  <a:moveTo>
                    <a:pt x="0" y="0"/>
                  </a:moveTo>
                  <a:lnTo>
                    <a:pt x="1701528" y="0"/>
                  </a:lnTo>
                  <a:lnTo>
                    <a:pt x="1701528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21159" y="3023111"/>
            <a:ext cx="8380577" cy="3865883"/>
            <a:chOff x="0" y="0"/>
            <a:chExt cx="11174103" cy="51545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74166" cy="5154549"/>
            </a:xfrm>
            <a:custGeom>
              <a:avLst/>
              <a:gdLst/>
              <a:ahLst/>
              <a:cxnLst/>
              <a:rect r="r" b="b" t="t" l="l"/>
              <a:pathLst>
                <a:path h="5154549" w="11174166">
                  <a:moveTo>
                    <a:pt x="0" y="147320"/>
                  </a:moveTo>
                  <a:cubicBezTo>
                    <a:pt x="0" y="65913"/>
                    <a:pt x="51105" y="0"/>
                    <a:pt x="114223" y="0"/>
                  </a:cubicBezTo>
                  <a:lnTo>
                    <a:pt x="11059929" y="0"/>
                  </a:lnTo>
                  <a:cubicBezTo>
                    <a:pt x="11122949" y="0"/>
                    <a:pt x="11174166" y="65913"/>
                    <a:pt x="11174166" y="147320"/>
                  </a:cubicBezTo>
                  <a:lnTo>
                    <a:pt x="11174166" y="5007229"/>
                  </a:lnTo>
                  <a:cubicBezTo>
                    <a:pt x="11174166" y="5088509"/>
                    <a:pt x="11123047" y="5154549"/>
                    <a:pt x="11059929" y="5154549"/>
                  </a:cubicBezTo>
                  <a:lnTo>
                    <a:pt x="114223" y="5154549"/>
                  </a:lnTo>
                  <a:cubicBezTo>
                    <a:pt x="51203" y="5154549"/>
                    <a:pt x="0" y="5088636"/>
                    <a:pt x="0" y="500722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1004" y="3328416"/>
            <a:ext cx="77987" cy="3255264"/>
            <a:chOff x="0" y="0"/>
            <a:chExt cx="103982" cy="43403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982" cy="4340352"/>
            </a:xfrm>
            <a:custGeom>
              <a:avLst/>
              <a:gdLst/>
              <a:ahLst/>
              <a:cxnLst/>
              <a:rect r="r" b="b" t="t" l="l"/>
              <a:pathLst>
                <a:path h="4340352" w="103982">
                  <a:moveTo>
                    <a:pt x="0" y="0"/>
                  </a:moveTo>
                  <a:lnTo>
                    <a:pt x="103982" y="0"/>
                  </a:lnTo>
                  <a:lnTo>
                    <a:pt x="103982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BE123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71309" y="3328416"/>
            <a:ext cx="7736988" cy="731520"/>
            <a:chOff x="0" y="0"/>
            <a:chExt cx="10315984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15985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5985">
                  <a:moveTo>
                    <a:pt x="0" y="0"/>
                  </a:moveTo>
                  <a:lnTo>
                    <a:pt x="10315985" y="0"/>
                  </a:lnTo>
                  <a:lnTo>
                    <a:pt x="1031598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75" b="-2158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0315984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Every request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42206" y="4085082"/>
            <a:ext cx="7566835" cy="124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getServerSession(authOptions) resolves the session before any database access. No session → 401, and the handler returns before a query is built.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07423" y="3023111"/>
            <a:ext cx="8087138" cy="3865883"/>
            <a:chOff x="0" y="0"/>
            <a:chExt cx="10782850" cy="5154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82913" cy="5154549"/>
            </a:xfrm>
            <a:custGeom>
              <a:avLst/>
              <a:gdLst/>
              <a:ahLst/>
              <a:cxnLst/>
              <a:rect r="r" b="b" t="t" l="l"/>
              <a:pathLst>
                <a:path h="5154549" w="10782913">
                  <a:moveTo>
                    <a:pt x="0" y="147320"/>
                  </a:moveTo>
                  <a:cubicBezTo>
                    <a:pt x="0" y="65913"/>
                    <a:pt x="49316" y="0"/>
                    <a:pt x="110223" y="0"/>
                  </a:cubicBezTo>
                  <a:lnTo>
                    <a:pt x="10672674" y="0"/>
                  </a:lnTo>
                  <a:cubicBezTo>
                    <a:pt x="10733487" y="0"/>
                    <a:pt x="10782913" y="65913"/>
                    <a:pt x="10782913" y="147320"/>
                  </a:cubicBezTo>
                  <a:lnTo>
                    <a:pt x="10782913" y="5007229"/>
                  </a:lnTo>
                  <a:cubicBezTo>
                    <a:pt x="10782913" y="5088509"/>
                    <a:pt x="10733582" y="5154549"/>
                    <a:pt x="10672674" y="5154549"/>
                  </a:cubicBezTo>
                  <a:lnTo>
                    <a:pt x="110223" y="5154549"/>
                  </a:lnTo>
                  <a:cubicBezTo>
                    <a:pt x="49411" y="5154549"/>
                    <a:pt x="0" y="5088636"/>
                    <a:pt x="0" y="500722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917267" y="3328416"/>
            <a:ext cx="77987" cy="3255264"/>
            <a:chOff x="0" y="0"/>
            <a:chExt cx="103982" cy="43403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982" cy="4340352"/>
            </a:xfrm>
            <a:custGeom>
              <a:avLst/>
              <a:gdLst/>
              <a:ahLst/>
              <a:cxnLst/>
              <a:rect r="r" b="b" t="t" l="l"/>
              <a:pathLst>
                <a:path h="4340352" w="103982">
                  <a:moveTo>
                    <a:pt x="0" y="0"/>
                  </a:moveTo>
                  <a:lnTo>
                    <a:pt x="103982" y="0"/>
                  </a:lnTo>
                  <a:lnTo>
                    <a:pt x="103982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BE123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57572" y="3328416"/>
            <a:ext cx="7736988" cy="731520"/>
            <a:chOff x="0" y="0"/>
            <a:chExt cx="10315984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15985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5985">
                  <a:moveTo>
                    <a:pt x="0" y="0"/>
                  </a:moveTo>
                  <a:lnTo>
                    <a:pt x="10315985" y="0"/>
                  </a:lnTo>
                  <a:lnTo>
                    <a:pt x="1031598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75" b="-2158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0315984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Every query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328469" y="4085082"/>
            <a:ext cx="7566835" cy="124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The userId in each Prisma where clause comes from the verified session — never from the request body or a query parameter. There is no code path that accepts one.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21159" y="7229351"/>
            <a:ext cx="8380577" cy="3865883"/>
            <a:chOff x="0" y="0"/>
            <a:chExt cx="11174103" cy="51545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74166" cy="5154549"/>
            </a:xfrm>
            <a:custGeom>
              <a:avLst/>
              <a:gdLst/>
              <a:ahLst/>
              <a:cxnLst/>
              <a:rect r="r" b="b" t="t" l="l"/>
              <a:pathLst>
                <a:path h="5154549" w="11174166">
                  <a:moveTo>
                    <a:pt x="0" y="147320"/>
                  </a:moveTo>
                  <a:cubicBezTo>
                    <a:pt x="0" y="65913"/>
                    <a:pt x="51105" y="0"/>
                    <a:pt x="114223" y="0"/>
                  </a:cubicBezTo>
                  <a:lnTo>
                    <a:pt x="11059929" y="0"/>
                  </a:lnTo>
                  <a:cubicBezTo>
                    <a:pt x="11122949" y="0"/>
                    <a:pt x="11174166" y="65913"/>
                    <a:pt x="11174166" y="147320"/>
                  </a:cubicBezTo>
                  <a:lnTo>
                    <a:pt x="11174166" y="5007229"/>
                  </a:lnTo>
                  <a:cubicBezTo>
                    <a:pt x="11174166" y="5088509"/>
                    <a:pt x="11123047" y="5154549"/>
                    <a:pt x="11059929" y="5154549"/>
                  </a:cubicBezTo>
                  <a:lnTo>
                    <a:pt x="114223" y="5154549"/>
                  </a:lnTo>
                  <a:cubicBezTo>
                    <a:pt x="51203" y="5154549"/>
                    <a:pt x="0" y="5088636"/>
                    <a:pt x="0" y="500722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31004" y="7534656"/>
            <a:ext cx="77987" cy="3255264"/>
            <a:chOff x="0" y="0"/>
            <a:chExt cx="103982" cy="43403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982" cy="4340352"/>
            </a:xfrm>
            <a:custGeom>
              <a:avLst/>
              <a:gdLst/>
              <a:ahLst/>
              <a:cxnLst/>
              <a:rect r="r" b="b" t="t" l="l"/>
              <a:pathLst>
                <a:path h="4340352" w="103982">
                  <a:moveTo>
                    <a:pt x="0" y="0"/>
                  </a:moveTo>
                  <a:lnTo>
                    <a:pt x="103982" y="0"/>
                  </a:lnTo>
                  <a:lnTo>
                    <a:pt x="103982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71309" y="7534656"/>
            <a:ext cx="7736988" cy="731520"/>
            <a:chOff x="0" y="0"/>
            <a:chExt cx="10315984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15985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5985">
                  <a:moveTo>
                    <a:pt x="0" y="0"/>
                  </a:moveTo>
                  <a:lnTo>
                    <a:pt x="10315985" y="0"/>
                  </a:lnTo>
                  <a:lnTo>
                    <a:pt x="1031598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75" b="-2158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10315984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Credentials &amp; deletion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542206" y="8291322"/>
            <a:ext cx="7566835" cy="166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bcryptjs salted hashes via the NextAuth Credentials provider. User relations cascade on delete; category and account links use SetNull, so removing a category never destroys transaction history.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907423" y="7229351"/>
            <a:ext cx="8087138" cy="3865883"/>
            <a:chOff x="0" y="0"/>
            <a:chExt cx="10782850" cy="51545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82913" cy="5154549"/>
            </a:xfrm>
            <a:custGeom>
              <a:avLst/>
              <a:gdLst/>
              <a:ahLst/>
              <a:cxnLst/>
              <a:rect r="r" b="b" t="t" l="l"/>
              <a:pathLst>
                <a:path h="5154549" w="10782913">
                  <a:moveTo>
                    <a:pt x="0" y="147320"/>
                  </a:moveTo>
                  <a:cubicBezTo>
                    <a:pt x="0" y="65913"/>
                    <a:pt x="49316" y="0"/>
                    <a:pt x="110223" y="0"/>
                  </a:cubicBezTo>
                  <a:lnTo>
                    <a:pt x="10672674" y="0"/>
                  </a:lnTo>
                  <a:cubicBezTo>
                    <a:pt x="10733487" y="0"/>
                    <a:pt x="10782913" y="65913"/>
                    <a:pt x="10782913" y="147320"/>
                  </a:cubicBezTo>
                  <a:lnTo>
                    <a:pt x="10782913" y="5007229"/>
                  </a:lnTo>
                  <a:cubicBezTo>
                    <a:pt x="10782913" y="5088509"/>
                    <a:pt x="10733582" y="5154549"/>
                    <a:pt x="10672674" y="5154549"/>
                  </a:cubicBezTo>
                  <a:lnTo>
                    <a:pt x="110223" y="5154549"/>
                  </a:lnTo>
                  <a:cubicBezTo>
                    <a:pt x="49411" y="5154549"/>
                    <a:pt x="0" y="5088636"/>
                    <a:pt x="0" y="500722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917267" y="7534656"/>
            <a:ext cx="77987" cy="3255264"/>
            <a:chOff x="0" y="0"/>
            <a:chExt cx="103982" cy="43403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3982" cy="4340352"/>
            </a:xfrm>
            <a:custGeom>
              <a:avLst/>
              <a:gdLst/>
              <a:ahLst/>
              <a:cxnLst/>
              <a:rect r="r" b="b" t="t" l="l"/>
              <a:pathLst>
                <a:path h="4340352" w="103982">
                  <a:moveTo>
                    <a:pt x="0" y="0"/>
                  </a:moveTo>
                  <a:lnTo>
                    <a:pt x="103982" y="0"/>
                  </a:lnTo>
                  <a:lnTo>
                    <a:pt x="103982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57572" y="7534656"/>
            <a:ext cx="7736988" cy="731520"/>
            <a:chOff x="0" y="0"/>
            <a:chExt cx="10315984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15985" cy="975360"/>
            </a:xfrm>
            <a:custGeom>
              <a:avLst/>
              <a:gdLst/>
              <a:ahLst/>
              <a:cxnLst/>
              <a:rect r="r" b="b" t="t" l="l"/>
              <a:pathLst>
                <a:path h="975360" w="10315985">
                  <a:moveTo>
                    <a:pt x="0" y="0"/>
                  </a:moveTo>
                  <a:lnTo>
                    <a:pt x="10315985" y="0"/>
                  </a:lnTo>
                  <a:lnTo>
                    <a:pt x="1031598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800" r="-28975" b="-2158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10315984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Scoping is also the query plan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328469" y="8291322"/>
            <a:ext cx="7566835" cy="124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300">
                <a:solidFill>
                  <a:srgbClr val="374151"/>
                </a:solidFill>
                <a:latin typeface="Segoe UI"/>
                <a:ea typeface="Segoe UI"/>
                <a:cs typeface="Segoe UI"/>
                <a:sym typeface="Segoe UI"/>
              </a:rPr>
              <a:t>Composite indexes on [userId, date], [userId, categoryId], [userId, accountId] and [userId, type] mean the isolation boundary is the same thing that makes reads fast.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1004" y="751669"/>
            <a:ext cx="17147145" cy="471767"/>
            <a:chOff x="0" y="0"/>
            <a:chExt cx="22862860" cy="6290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2859" cy="629022"/>
            </a:xfrm>
            <a:custGeom>
              <a:avLst/>
              <a:gdLst/>
              <a:ahLst/>
              <a:cxnLst/>
              <a:rect r="r" b="b" t="t" l="l"/>
              <a:pathLst>
                <a:path h="629022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629022"/>
                  </a:lnTo>
                  <a:lnTo>
                    <a:pt x="0" y="6290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910" r="-28975" b="-8599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862860" cy="629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20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BUILD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1004" y="951764"/>
            <a:ext cx="17147145" cy="1311138"/>
            <a:chOff x="0" y="0"/>
            <a:chExt cx="22862860" cy="17481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2859" cy="1748185"/>
            </a:xfrm>
            <a:custGeom>
              <a:avLst/>
              <a:gdLst/>
              <a:ahLst/>
              <a:cxnLst/>
              <a:rect r="r" b="b" t="t" l="l"/>
              <a:pathLst>
                <a:path h="1748185" w="22862859">
                  <a:moveTo>
                    <a:pt x="0" y="0"/>
                  </a:moveTo>
                  <a:lnTo>
                    <a:pt x="22862859" y="0"/>
                  </a:lnTo>
                  <a:lnTo>
                    <a:pt x="22862859" y="1748185"/>
                  </a:lnTo>
                  <a:lnTo>
                    <a:pt x="0" y="17481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214" r="-28975" b="-2691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862860" cy="174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59"/>
                </a:lnSpc>
              </a:pPr>
              <a:r>
                <a:rPr lang="en-US" sz="57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Tech stack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1004" y="2248641"/>
            <a:ext cx="1276146" cy="75776"/>
            <a:chOff x="0" y="0"/>
            <a:chExt cx="1701528" cy="1010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1528" cy="101035"/>
            </a:xfrm>
            <a:custGeom>
              <a:avLst/>
              <a:gdLst/>
              <a:ahLst/>
              <a:cxnLst/>
              <a:rect r="r" b="b" t="t" l="l"/>
              <a:pathLst>
                <a:path h="101035" w="1701528">
                  <a:moveTo>
                    <a:pt x="0" y="0"/>
                  </a:moveTo>
                  <a:lnTo>
                    <a:pt x="1701528" y="0"/>
                  </a:lnTo>
                  <a:lnTo>
                    <a:pt x="1701528" y="101035"/>
                  </a:lnTo>
                  <a:lnTo>
                    <a:pt x="0" y="101035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1159" y="2843159"/>
            <a:ext cx="5527446" cy="3357544"/>
            <a:chOff x="0" y="0"/>
            <a:chExt cx="7369929" cy="4476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9941" cy="4476764"/>
            </a:xfrm>
            <a:custGeom>
              <a:avLst/>
              <a:gdLst/>
              <a:ahLst/>
              <a:cxnLst/>
              <a:rect r="r" b="b" t="t" l="l"/>
              <a:pathLst>
                <a:path h="4476764" w="7369941">
                  <a:moveTo>
                    <a:pt x="0" y="135649"/>
                  </a:moveTo>
                  <a:cubicBezTo>
                    <a:pt x="0" y="60691"/>
                    <a:pt x="51105" y="0"/>
                    <a:pt x="114223" y="0"/>
                  </a:cubicBezTo>
                  <a:lnTo>
                    <a:pt x="7255715" y="0"/>
                  </a:lnTo>
                  <a:cubicBezTo>
                    <a:pt x="7318833" y="0"/>
                    <a:pt x="7369941" y="60691"/>
                    <a:pt x="7369941" y="135649"/>
                  </a:cubicBezTo>
                  <a:lnTo>
                    <a:pt x="7369941" y="4341112"/>
                  </a:lnTo>
                  <a:cubicBezTo>
                    <a:pt x="7369941" y="4416070"/>
                    <a:pt x="7318833" y="4476764"/>
                    <a:pt x="7255715" y="4476764"/>
                  </a:cubicBezTo>
                  <a:lnTo>
                    <a:pt x="114223" y="4476764"/>
                  </a:lnTo>
                  <a:cubicBezTo>
                    <a:pt x="51105" y="4476764"/>
                    <a:pt x="0" y="4416070"/>
                    <a:pt x="0" y="434111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31004" y="2854850"/>
            <a:ext cx="5507750" cy="101035"/>
            <a:chOff x="0" y="0"/>
            <a:chExt cx="7343667" cy="1347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43647" cy="134713"/>
            </a:xfrm>
            <a:custGeom>
              <a:avLst/>
              <a:gdLst/>
              <a:ahLst/>
              <a:cxnLst/>
              <a:rect r="r" b="b" t="t" l="l"/>
              <a:pathLst>
                <a:path h="134713" w="7343647">
                  <a:moveTo>
                    <a:pt x="0" y="0"/>
                  </a:moveTo>
                  <a:lnTo>
                    <a:pt x="7343647" y="0"/>
                  </a:lnTo>
                  <a:lnTo>
                    <a:pt x="7343647" y="134713"/>
                  </a:lnTo>
                  <a:lnTo>
                    <a:pt x="0" y="13471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2950" y="3121247"/>
            <a:ext cx="4883857" cy="541883"/>
            <a:chOff x="0" y="0"/>
            <a:chExt cx="6511809" cy="7225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11808" cy="722511"/>
            </a:xfrm>
            <a:custGeom>
              <a:avLst/>
              <a:gdLst/>
              <a:ahLst/>
              <a:cxnLst/>
              <a:rect r="r" b="b" t="t" l="l"/>
              <a:pathLst>
                <a:path h="722511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75" r="-28975" b="-1771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511809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Framework &amp; language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42950" y="3831521"/>
            <a:ext cx="4883857" cy="606210"/>
            <a:chOff x="0" y="0"/>
            <a:chExt cx="6511809" cy="808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42950" y="3831521"/>
            <a:ext cx="4883857" cy="606210"/>
            <a:chOff x="0" y="0"/>
            <a:chExt cx="6511809" cy="808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563E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Next.js 14 App Router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2950" y="4404053"/>
            <a:ext cx="4883857" cy="606210"/>
            <a:chOff x="0" y="0"/>
            <a:chExt cx="6511809" cy="808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2950" y="4404053"/>
            <a:ext cx="4883857" cy="606210"/>
            <a:chOff x="0" y="0"/>
            <a:chExt cx="6511809" cy="808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563E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TypeScript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2950" y="4976584"/>
            <a:ext cx="4883857" cy="606210"/>
            <a:chOff x="0" y="0"/>
            <a:chExt cx="6511809" cy="808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2950" y="4976584"/>
            <a:ext cx="4883857" cy="606210"/>
            <a:chOff x="0" y="0"/>
            <a:chExt cx="6511809" cy="808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563E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React 18 Server + Client Components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40856" y="2843159"/>
            <a:ext cx="5527446" cy="3357544"/>
            <a:chOff x="0" y="0"/>
            <a:chExt cx="7369929" cy="44767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69941" cy="4476764"/>
            </a:xfrm>
            <a:custGeom>
              <a:avLst/>
              <a:gdLst/>
              <a:ahLst/>
              <a:cxnLst/>
              <a:rect r="r" b="b" t="t" l="l"/>
              <a:pathLst>
                <a:path h="4476764" w="7369941">
                  <a:moveTo>
                    <a:pt x="0" y="135649"/>
                  </a:moveTo>
                  <a:cubicBezTo>
                    <a:pt x="0" y="60691"/>
                    <a:pt x="51105" y="0"/>
                    <a:pt x="114223" y="0"/>
                  </a:cubicBezTo>
                  <a:lnTo>
                    <a:pt x="7255715" y="0"/>
                  </a:lnTo>
                  <a:cubicBezTo>
                    <a:pt x="7318833" y="0"/>
                    <a:pt x="7369941" y="60691"/>
                    <a:pt x="7369941" y="135649"/>
                  </a:cubicBezTo>
                  <a:lnTo>
                    <a:pt x="7369941" y="4341112"/>
                  </a:lnTo>
                  <a:cubicBezTo>
                    <a:pt x="7369941" y="4416070"/>
                    <a:pt x="7318833" y="4476764"/>
                    <a:pt x="7255715" y="4476764"/>
                  </a:cubicBezTo>
                  <a:lnTo>
                    <a:pt x="114223" y="4476764"/>
                  </a:lnTo>
                  <a:cubicBezTo>
                    <a:pt x="51105" y="4476764"/>
                    <a:pt x="0" y="4416070"/>
                    <a:pt x="0" y="434111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950701" y="2854850"/>
            <a:ext cx="5507750" cy="101035"/>
            <a:chOff x="0" y="0"/>
            <a:chExt cx="7343667" cy="13471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3647" cy="134713"/>
            </a:xfrm>
            <a:custGeom>
              <a:avLst/>
              <a:gdLst/>
              <a:ahLst/>
              <a:cxnLst/>
              <a:rect r="r" b="b" t="t" l="l"/>
              <a:pathLst>
                <a:path h="134713" w="7343647">
                  <a:moveTo>
                    <a:pt x="0" y="0"/>
                  </a:moveTo>
                  <a:lnTo>
                    <a:pt x="7343647" y="0"/>
                  </a:lnTo>
                  <a:lnTo>
                    <a:pt x="7343647" y="134713"/>
                  </a:lnTo>
                  <a:lnTo>
                    <a:pt x="0" y="134713"/>
                  </a:lnTo>
                  <a:close/>
                </a:path>
              </a:pathLst>
            </a:custGeom>
            <a:solidFill>
              <a:srgbClr val="6D28D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62647" y="3121247"/>
            <a:ext cx="4883857" cy="541883"/>
            <a:chOff x="0" y="0"/>
            <a:chExt cx="6511809" cy="722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11808" cy="722511"/>
            </a:xfrm>
            <a:custGeom>
              <a:avLst/>
              <a:gdLst/>
              <a:ahLst/>
              <a:cxnLst/>
              <a:rect r="r" b="b" t="t" l="l"/>
              <a:pathLst>
                <a:path h="722511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75" r="-28975" b="-1771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511809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Data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262647" y="3831521"/>
            <a:ext cx="4883857" cy="606210"/>
            <a:chOff x="0" y="0"/>
            <a:chExt cx="6511809" cy="808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62647" y="3831521"/>
            <a:ext cx="4883857" cy="606210"/>
            <a:chOff x="0" y="0"/>
            <a:chExt cx="6511809" cy="808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D28D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Prisma ORM 5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62647" y="4404053"/>
            <a:ext cx="4883857" cy="606210"/>
            <a:chOff x="0" y="0"/>
            <a:chExt cx="6511809" cy="808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262647" y="4404053"/>
            <a:ext cx="4883857" cy="606210"/>
            <a:chOff x="0" y="0"/>
            <a:chExt cx="6511809" cy="808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D28D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SQLite (local)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262647" y="4976584"/>
            <a:ext cx="4883857" cy="606210"/>
            <a:chOff x="0" y="0"/>
            <a:chExt cx="6511809" cy="808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262647" y="4976584"/>
            <a:ext cx="4883857" cy="606210"/>
            <a:chOff x="0" y="0"/>
            <a:chExt cx="6511809" cy="808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D28D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PostgreSQL / Supabase (deploy)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760554" y="2843159"/>
            <a:ext cx="5527446" cy="3357544"/>
            <a:chOff x="0" y="0"/>
            <a:chExt cx="7369929" cy="44767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69941" cy="4476764"/>
            </a:xfrm>
            <a:custGeom>
              <a:avLst/>
              <a:gdLst/>
              <a:ahLst/>
              <a:cxnLst/>
              <a:rect r="r" b="b" t="t" l="l"/>
              <a:pathLst>
                <a:path h="4476764" w="7369941">
                  <a:moveTo>
                    <a:pt x="0" y="135649"/>
                  </a:moveTo>
                  <a:cubicBezTo>
                    <a:pt x="0" y="60691"/>
                    <a:pt x="51105" y="0"/>
                    <a:pt x="114223" y="0"/>
                  </a:cubicBezTo>
                  <a:lnTo>
                    <a:pt x="7255715" y="0"/>
                  </a:lnTo>
                  <a:cubicBezTo>
                    <a:pt x="7318833" y="0"/>
                    <a:pt x="7369941" y="60691"/>
                    <a:pt x="7369941" y="135649"/>
                  </a:cubicBezTo>
                  <a:lnTo>
                    <a:pt x="7369941" y="4341112"/>
                  </a:lnTo>
                  <a:cubicBezTo>
                    <a:pt x="7369941" y="4416070"/>
                    <a:pt x="7318833" y="4476764"/>
                    <a:pt x="7255715" y="4476764"/>
                  </a:cubicBezTo>
                  <a:lnTo>
                    <a:pt x="114223" y="4476764"/>
                  </a:lnTo>
                  <a:cubicBezTo>
                    <a:pt x="51105" y="4476764"/>
                    <a:pt x="0" y="4416070"/>
                    <a:pt x="0" y="434111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770398" y="2854850"/>
            <a:ext cx="5507750" cy="101035"/>
            <a:chOff x="0" y="0"/>
            <a:chExt cx="7343667" cy="13471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43647" cy="134713"/>
            </a:xfrm>
            <a:custGeom>
              <a:avLst/>
              <a:gdLst/>
              <a:ahLst/>
              <a:cxnLst/>
              <a:rect r="r" b="b" t="t" l="l"/>
              <a:pathLst>
                <a:path h="134713" w="7343647">
                  <a:moveTo>
                    <a:pt x="0" y="0"/>
                  </a:moveTo>
                  <a:lnTo>
                    <a:pt x="7343647" y="0"/>
                  </a:lnTo>
                  <a:lnTo>
                    <a:pt x="7343647" y="134713"/>
                  </a:lnTo>
                  <a:lnTo>
                    <a:pt x="0" y="134713"/>
                  </a:lnTo>
                  <a:close/>
                </a:path>
              </a:pathLst>
            </a:custGeom>
            <a:solidFill>
              <a:srgbClr val="BE123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082345" y="3121247"/>
            <a:ext cx="4883857" cy="541883"/>
            <a:chOff x="0" y="0"/>
            <a:chExt cx="6511809" cy="7225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11808" cy="722511"/>
            </a:xfrm>
            <a:custGeom>
              <a:avLst/>
              <a:gdLst/>
              <a:ahLst/>
              <a:cxnLst/>
              <a:rect r="r" b="b" t="t" l="l"/>
              <a:pathLst>
                <a:path h="722511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75" r="-28975" b="-17712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6511809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Auth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082345" y="3831521"/>
            <a:ext cx="4883857" cy="606210"/>
            <a:chOff x="0" y="0"/>
            <a:chExt cx="6511809" cy="808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FFE4E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082345" y="3831521"/>
            <a:ext cx="4883857" cy="606210"/>
            <a:chOff x="0" y="0"/>
            <a:chExt cx="6511809" cy="808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E123C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NextAuth.js 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082345" y="4404053"/>
            <a:ext cx="4883857" cy="606210"/>
            <a:chOff x="0" y="0"/>
            <a:chExt cx="6511809" cy="808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FFE4E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082345" y="4404053"/>
            <a:ext cx="4883857" cy="606210"/>
            <a:chOff x="0" y="0"/>
            <a:chExt cx="6511809" cy="808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E123C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Credentials provider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082345" y="4976584"/>
            <a:ext cx="4883857" cy="606210"/>
            <a:chOff x="0" y="0"/>
            <a:chExt cx="6511809" cy="808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FFE4E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082345" y="4976584"/>
            <a:ext cx="4883857" cy="606210"/>
            <a:chOff x="0" y="0"/>
            <a:chExt cx="6511809" cy="808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E123C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bcryptjs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21159" y="6615131"/>
            <a:ext cx="5527446" cy="3357544"/>
            <a:chOff x="0" y="0"/>
            <a:chExt cx="7369929" cy="447672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369941" cy="4476764"/>
            </a:xfrm>
            <a:custGeom>
              <a:avLst/>
              <a:gdLst/>
              <a:ahLst/>
              <a:cxnLst/>
              <a:rect r="r" b="b" t="t" l="l"/>
              <a:pathLst>
                <a:path h="4476764" w="7369941">
                  <a:moveTo>
                    <a:pt x="0" y="135649"/>
                  </a:moveTo>
                  <a:cubicBezTo>
                    <a:pt x="0" y="60691"/>
                    <a:pt x="51105" y="0"/>
                    <a:pt x="114223" y="0"/>
                  </a:cubicBezTo>
                  <a:lnTo>
                    <a:pt x="7255715" y="0"/>
                  </a:lnTo>
                  <a:cubicBezTo>
                    <a:pt x="7318833" y="0"/>
                    <a:pt x="7369941" y="60691"/>
                    <a:pt x="7369941" y="135649"/>
                  </a:cubicBezTo>
                  <a:lnTo>
                    <a:pt x="7369941" y="4341112"/>
                  </a:lnTo>
                  <a:cubicBezTo>
                    <a:pt x="7369941" y="4416070"/>
                    <a:pt x="7318833" y="4476764"/>
                    <a:pt x="7255715" y="4476764"/>
                  </a:cubicBezTo>
                  <a:lnTo>
                    <a:pt x="114223" y="4476764"/>
                  </a:lnTo>
                  <a:cubicBezTo>
                    <a:pt x="51105" y="4476764"/>
                    <a:pt x="0" y="4416070"/>
                    <a:pt x="0" y="434111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31004" y="6626822"/>
            <a:ext cx="5507750" cy="101035"/>
            <a:chOff x="0" y="0"/>
            <a:chExt cx="7343667" cy="13471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43647" cy="134713"/>
            </a:xfrm>
            <a:custGeom>
              <a:avLst/>
              <a:gdLst/>
              <a:ahLst/>
              <a:cxnLst/>
              <a:rect r="r" b="b" t="t" l="l"/>
              <a:pathLst>
                <a:path h="134713" w="7343647">
                  <a:moveTo>
                    <a:pt x="0" y="0"/>
                  </a:moveTo>
                  <a:lnTo>
                    <a:pt x="7343647" y="0"/>
                  </a:lnTo>
                  <a:lnTo>
                    <a:pt x="7343647" y="134713"/>
                  </a:lnTo>
                  <a:lnTo>
                    <a:pt x="0" y="134713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442950" y="6893218"/>
            <a:ext cx="4883857" cy="541883"/>
            <a:chOff x="0" y="0"/>
            <a:chExt cx="6511809" cy="7225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511808" cy="722511"/>
            </a:xfrm>
            <a:custGeom>
              <a:avLst/>
              <a:gdLst/>
              <a:ahLst/>
              <a:cxnLst/>
              <a:rect r="r" b="b" t="t" l="l"/>
              <a:pathLst>
                <a:path h="722511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75" r="-28975" b="-17712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6511809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UI &amp; charts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42950" y="7603493"/>
            <a:ext cx="4883857" cy="606210"/>
            <a:chOff x="0" y="0"/>
            <a:chExt cx="6511809" cy="8082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442950" y="7603493"/>
            <a:ext cx="4883857" cy="606210"/>
            <a:chOff x="0" y="0"/>
            <a:chExt cx="6511809" cy="808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Tailwind CSS 3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42950" y="8176024"/>
            <a:ext cx="4883857" cy="606210"/>
            <a:chOff x="0" y="0"/>
            <a:chExt cx="6511809" cy="8082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42950" y="8176024"/>
            <a:ext cx="4883857" cy="606210"/>
            <a:chOff x="0" y="0"/>
            <a:chExt cx="6511809" cy="808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Recharts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42950" y="8748556"/>
            <a:ext cx="4883857" cy="606210"/>
            <a:chOff x="0" y="0"/>
            <a:chExt cx="6511809" cy="808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42950" y="8748556"/>
            <a:ext cx="4883857" cy="606210"/>
            <a:chOff x="0" y="0"/>
            <a:chExt cx="6511809" cy="808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lucide-react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42950" y="9354766"/>
            <a:ext cx="4883857" cy="617909"/>
            <a:chOff x="0" y="0"/>
            <a:chExt cx="6511809" cy="82387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11789" cy="823879"/>
            </a:xfrm>
            <a:custGeom>
              <a:avLst/>
              <a:gdLst/>
              <a:ahLst/>
              <a:cxnLst/>
              <a:rect r="r" b="b" t="t" l="l"/>
              <a:pathLst>
                <a:path h="823879" w="6511789">
                  <a:moveTo>
                    <a:pt x="0" y="411940"/>
                  </a:moveTo>
                  <a:cubicBezTo>
                    <a:pt x="0" y="184395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4395"/>
                    <a:pt x="6511789" y="411940"/>
                  </a:cubicBezTo>
                  <a:cubicBezTo>
                    <a:pt x="6511789" y="639484"/>
                    <a:pt x="6359460" y="823879"/>
                    <a:pt x="6171484" y="823879"/>
                  </a:cubicBezTo>
                  <a:lnTo>
                    <a:pt x="340306" y="823879"/>
                  </a:lnTo>
                  <a:cubicBezTo>
                    <a:pt x="152330" y="823879"/>
                    <a:pt x="0" y="639484"/>
                    <a:pt x="0" y="41194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42950" y="9516691"/>
            <a:ext cx="4883857" cy="496443"/>
            <a:chOff x="0" y="0"/>
            <a:chExt cx="6511809" cy="66192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11808" cy="661924"/>
            </a:xfrm>
            <a:custGeom>
              <a:avLst/>
              <a:gdLst/>
              <a:ahLst/>
              <a:cxnLst/>
              <a:rect r="r" b="b" t="t" l="l"/>
              <a:pathLst>
                <a:path h="661924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661924"/>
                  </a:lnTo>
                  <a:lnTo>
                    <a:pt x="0" y="6619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922" r="-28975" b="-21353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6511809" cy="661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date-fns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6940856" y="6615131"/>
            <a:ext cx="5527446" cy="3357544"/>
            <a:chOff x="0" y="0"/>
            <a:chExt cx="7369929" cy="447672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69941" cy="4476764"/>
            </a:xfrm>
            <a:custGeom>
              <a:avLst/>
              <a:gdLst/>
              <a:ahLst/>
              <a:cxnLst/>
              <a:rect r="r" b="b" t="t" l="l"/>
              <a:pathLst>
                <a:path h="4476764" w="7369941">
                  <a:moveTo>
                    <a:pt x="0" y="135649"/>
                  </a:moveTo>
                  <a:cubicBezTo>
                    <a:pt x="0" y="60691"/>
                    <a:pt x="51105" y="0"/>
                    <a:pt x="114223" y="0"/>
                  </a:cubicBezTo>
                  <a:lnTo>
                    <a:pt x="7255715" y="0"/>
                  </a:lnTo>
                  <a:cubicBezTo>
                    <a:pt x="7318833" y="0"/>
                    <a:pt x="7369941" y="60691"/>
                    <a:pt x="7369941" y="135649"/>
                  </a:cubicBezTo>
                  <a:lnTo>
                    <a:pt x="7369941" y="4341112"/>
                  </a:lnTo>
                  <a:cubicBezTo>
                    <a:pt x="7369941" y="4416070"/>
                    <a:pt x="7318833" y="4476764"/>
                    <a:pt x="7255715" y="4476764"/>
                  </a:cubicBezTo>
                  <a:lnTo>
                    <a:pt x="114223" y="4476764"/>
                  </a:lnTo>
                  <a:cubicBezTo>
                    <a:pt x="51105" y="4476764"/>
                    <a:pt x="0" y="4416070"/>
                    <a:pt x="0" y="434111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6950701" y="6626822"/>
            <a:ext cx="5507750" cy="101035"/>
            <a:chOff x="0" y="0"/>
            <a:chExt cx="7343667" cy="13471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343647" cy="134713"/>
            </a:xfrm>
            <a:custGeom>
              <a:avLst/>
              <a:gdLst/>
              <a:ahLst/>
              <a:cxnLst/>
              <a:rect r="r" b="b" t="t" l="l"/>
              <a:pathLst>
                <a:path h="134713" w="7343647">
                  <a:moveTo>
                    <a:pt x="0" y="0"/>
                  </a:moveTo>
                  <a:lnTo>
                    <a:pt x="7343647" y="0"/>
                  </a:lnTo>
                  <a:lnTo>
                    <a:pt x="7343647" y="134713"/>
                  </a:lnTo>
                  <a:lnTo>
                    <a:pt x="0" y="134713"/>
                  </a:lnTo>
                  <a:close/>
                </a:path>
              </a:pathLst>
            </a:custGeom>
            <a:solidFill>
              <a:srgbClr val="0E749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262647" y="6893218"/>
            <a:ext cx="4883857" cy="541883"/>
            <a:chOff x="0" y="0"/>
            <a:chExt cx="6511809" cy="72251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511808" cy="722511"/>
            </a:xfrm>
            <a:custGeom>
              <a:avLst/>
              <a:gdLst/>
              <a:ahLst/>
              <a:cxnLst/>
              <a:rect r="r" b="b" t="t" l="l"/>
              <a:pathLst>
                <a:path h="722511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75" r="-28975" b="-17712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6511809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Ingestion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262647" y="7603493"/>
            <a:ext cx="4883857" cy="606210"/>
            <a:chOff x="0" y="0"/>
            <a:chExt cx="6511809" cy="8082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262647" y="7603493"/>
            <a:ext cx="4883857" cy="606210"/>
            <a:chOff x="0" y="0"/>
            <a:chExt cx="6511809" cy="8082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E749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PapaParse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262647" y="8176024"/>
            <a:ext cx="4883857" cy="606210"/>
            <a:chOff x="0" y="0"/>
            <a:chExt cx="6511809" cy="8082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262647" y="8176024"/>
            <a:ext cx="4883857" cy="606210"/>
            <a:chOff x="0" y="0"/>
            <a:chExt cx="6511809" cy="8082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E749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pdfjs-dist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262647" y="8748556"/>
            <a:ext cx="4883857" cy="606210"/>
            <a:chOff x="0" y="0"/>
            <a:chExt cx="6511809" cy="8082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CFFAFE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7262647" y="8748556"/>
            <a:ext cx="4883857" cy="606210"/>
            <a:chOff x="0" y="0"/>
            <a:chExt cx="6511809" cy="8082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E749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react-dropzone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760554" y="6615131"/>
            <a:ext cx="5527446" cy="3357544"/>
            <a:chOff x="0" y="0"/>
            <a:chExt cx="7369929" cy="447672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369941" cy="4476764"/>
            </a:xfrm>
            <a:custGeom>
              <a:avLst/>
              <a:gdLst/>
              <a:ahLst/>
              <a:cxnLst/>
              <a:rect r="r" b="b" t="t" l="l"/>
              <a:pathLst>
                <a:path h="4476764" w="7369941">
                  <a:moveTo>
                    <a:pt x="0" y="135649"/>
                  </a:moveTo>
                  <a:cubicBezTo>
                    <a:pt x="0" y="60691"/>
                    <a:pt x="51105" y="0"/>
                    <a:pt x="114223" y="0"/>
                  </a:cubicBezTo>
                  <a:lnTo>
                    <a:pt x="7255715" y="0"/>
                  </a:lnTo>
                  <a:cubicBezTo>
                    <a:pt x="7318833" y="0"/>
                    <a:pt x="7369941" y="60691"/>
                    <a:pt x="7369941" y="135649"/>
                  </a:cubicBezTo>
                  <a:lnTo>
                    <a:pt x="7369941" y="4341112"/>
                  </a:lnTo>
                  <a:cubicBezTo>
                    <a:pt x="7369941" y="4416070"/>
                    <a:pt x="7318833" y="4476764"/>
                    <a:pt x="7255715" y="4476764"/>
                  </a:cubicBezTo>
                  <a:lnTo>
                    <a:pt x="114223" y="4476764"/>
                  </a:lnTo>
                  <a:cubicBezTo>
                    <a:pt x="51105" y="4476764"/>
                    <a:pt x="0" y="4416070"/>
                    <a:pt x="0" y="434111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770398" y="6626822"/>
            <a:ext cx="5507750" cy="101035"/>
            <a:chOff x="0" y="0"/>
            <a:chExt cx="7343667" cy="13471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343647" cy="134713"/>
            </a:xfrm>
            <a:custGeom>
              <a:avLst/>
              <a:gdLst/>
              <a:ahLst/>
              <a:cxnLst/>
              <a:rect r="r" b="b" t="t" l="l"/>
              <a:pathLst>
                <a:path h="134713" w="7343647">
                  <a:moveTo>
                    <a:pt x="0" y="0"/>
                  </a:moveTo>
                  <a:lnTo>
                    <a:pt x="7343647" y="0"/>
                  </a:lnTo>
                  <a:lnTo>
                    <a:pt x="7343647" y="134713"/>
                  </a:lnTo>
                  <a:lnTo>
                    <a:pt x="0" y="134713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082345" y="6893218"/>
            <a:ext cx="4883857" cy="541883"/>
            <a:chOff x="0" y="0"/>
            <a:chExt cx="6511809" cy="72251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511808" cy="722511"/>
            </a:xfrm>
            <a:custGeom>
              <a:avLst/>
              <a:gdLst/>
              <a:ahLst/>
              <a:cxnLst/>
              <a:rect r="r" b="b" t="t" l="l"/>
              <a:pathLst>
                <a:path h="722511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722511"/>
                  </a:lnTo>
                  <a:lnTo>
                    <a:pt x="0" y="722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75" r="-28975" b="-17712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6511809" cy="72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AI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082345" y="7603493"/>
            <a:ext cx="4883857" cy="606210"/>
            <a:chOff x="0" y="0"/>
            <a:chExt cx="6511809" cy="8082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3082345" y="7603493"/>
            <a:ext cx="4883857" cy="606210"/>
            <a:chOff x="0" y="0"/>
            <a:chExt cx="6511809" cy="80828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30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@anthropic-ai/sdk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3082345" y="8176024"/>
            <a:ext cx="4883857" cy="606210"/>
            <a:chOff x="0" y="0"/>
            <a:chExt cx="6511809" cy="80828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3082345" y="8176024"/>
            <a:ext cx="4883857" cy="606210"/>
            <a:chOff x="0" y="0"/>
            <a:chExt cx="6511809" cy="8082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30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claude-haiku-4-5-20251001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082345" y="8748556"/>
            <a:ext cx="4883857" cy="606210"/>
            <a:chOff x="0" y="0"/>
            <a:chExt cx="6511809" cy="8082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511789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789">
                  <a:moveTo>
                    <a:pt x="0" y="404140"/>
                  </a:moveTo>
                  <a:cubicBezTo>
                    <a:pt x="0" y="180904"/>
                    <a:pt x="152330" y="0"/>
                    <a:pt x="340306" y="0"/>
                  </a:cubicBezTo>
                  <a:lnTo>
                    <a:pt x="6171484" y="0"/>
                  </a:lnTo>
                  <a:cubicBezTo>
                    <a:pt x="6359460" y="0"/>
                    <a:pt x="6511789" y="180904"/>
                    <a:pt x="6511789" y="404140"/>
                  </a:cubicBezTo>
                  <a:cubicBezTo>
                    <a:pt x="6511789" y="627376"/>
                    <a:pt x="6359460" y="808280"/>
                    <a:pt x="6171484" y="808280"/>
                  </a:cubicBezTo>
                  <a:lnTo>
                    <a:pt x="340306" y="808280"/>
                  </a:lnTo>
                  <a:cubicBezTo>
                    <a:pt x="152330" y="808280"/>
                    <a:pt x="0" y="627376"/>
                    <a:pt x="0" y="404140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3082345" y="8748556"/>
            <a:ext cx="4883857" cy="606210"/>
            <a:chOff x="0" y="0"/>
            <a:chExt cx="6511809" cy="80828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511808" cy="808280"/>
            </a:xfrm>
            <a:custGeom>
              <a:avLst/>
              <a:gdLst/>
              <a:ahLst/>
              <a:cxnLst/>
              <a:rect r="r" b="b" t="t" l="l"/>
              <a:pathLst>
                <a:path h="808280" w="6511808">
                  <a:moveTo>
                    <a:pt x="0" y="0"/>
                  </a:moveTo>
                  <a:lnTo>
                    <a:pt x="6511808" y="0"/>
                  </a:lnTo>
                  <a:lnTo>
                    <a:pt x="6511808" y="808280"/>
                  </a:lnTo>
                  <a:lnTo>
                    <a:pt x="0" y="808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162" r="-28975" b="-15676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6511809" cy="808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45309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temperature 0.1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904"/>
            <a:ext cx="24383390" cy="21946"/>
            <a:chOff x="0" y="0"/>
            <a:chExt cx="32511187" cy="2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1237" cy="29210"/>
            </a:xfrm>
            <a:custGeom>
              <a:avLst/>
              <a:gdLst/>
              <a:ahLst/>
              <a:cxnLst/>
              <a:rect r="r" b="b" t="t" l="l"/>
              <a:pathLst>
                <a:path h="29210" w="32511237">
                  <a:moveTo>
                    <a:pt x="0" y="0"/>
                  </a:moveTo>
                  <a:lnTo>
                    <a:pt x="32511237" y="0"/>
                  </a:lnTo>
                  <a:lnTo>
                    <a:pt x="32511237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3856" y="13057632"/>
            <a:ext cx="10972800" cy="512064"/>
            <a:chOff x="0" y="0"/>
            <a:chExt cx="14630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Segoe UI"/>
                  <a:ea typeface="Segoe UI"/>
                  <a:cs typeface="Segoe UI"/>
                  <a:sym typeface="Segoe UI"/>
                </a:rPr>
                <a:t>Clarity  ·  HackInMotion  ·  Team HIM-1043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512064" cy="13716000"/>
            <a:chOff x="0" y="0"/>
            <a:chExt cx="682752" cy="1828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2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8288000"/>
                  </a:lnTo>
                  <a:lnTo>
                    <a:pt x="0" y="182880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11680" y="3840480"/>
            <a:ext cx="16459200" cy="1828800"/>
            <a:chOff x="0" y="0"/>
            <a:chExt cx="21945600" cy="243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9"/>
                </a:lnSpc>
              </a:pPr>
              <a:r>
                <a:rPr lang="en-US" sz="9999" b="true">
                  <a:solidFill>
                    <a:srgbClr val="111827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Thank you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66544" y="5760720"/>
            <a:ext cx="18288000" cy="731520"/>
            <a:chOff x="0" y="0"/>
            <a:chExt cx="243840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43840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374151"/>
                  </a:solidFill>
                  <a:latin typeface="Segoe UI"/>
                  <a:ea typeface="Segoe UI"/>
                  <a:cs typeface="Segoe UI"/>
                  <a:sym typeface="Segoe UI"/>
                </a:rPr>
                <a:t>Clarity — an honest, clear picture of your personal financial health.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3120" y="6912864"/>
            <a:ext cx="2011680" cy="91440"/>
            <a:chOff x="0" y="0"/>
            <a:chExt cx="268224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2240" cy="121920"/>
            </a:xfrm>
            <a:custGeom>
              <a:avLst/>
              <a:gdLst/>
              <a:ahLst/>
              <a:cxnLst/>
              <a:rect r="r" b="b" t="t" l="l"/>
              <a:pathLst>
                <a:path h="1219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066544" y="11338560"/>
            <a:ext cx="14630400" cy="548640"/>
            <a:chOff x="0" y="0"/>
            <a:chExt cx="19507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507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Segoe UI"/>
                  <a:ea typeface="Segoe UI"/>
                  <a:cs typeface="Segoe UI"/>
                  <a:sym typeface="Segoe UI"/>
                </a:rPr>
                <a:t>HackInMotion  ·  Team HIM-1043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426574" y="13103352"/>
            <a:ext cx="731520" cy="42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Segoe UI"/>
                <a:ea typeface="Segoe UI"/>
                <a:cs typeface="Segoe UI"/>
                <a:sym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DAHSRk70vpY</dc:identifier>
  <dcterms:modified xsi:type="dcterms:W3CDTF">2011-08-01T06:04:30Z</dcterms:modified>
  <cp:revision>1</cp:revision>
  <dc:title>presentation</dc:title>
</cp:coreProperties>
</file>